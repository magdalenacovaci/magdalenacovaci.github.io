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8"/>
  </p:notesMasterIdLst>
  <p:sldIdLst>
    <p:sldId id="284" r:id="rId5"/>
    <p:sldId id="286" r:id="rId6"/>
    <p:sldId id="287" r:id="rId7"/>
    <p:sldId id="298" r:id="rId8"/>
    <p:sldId id="292" r:id="rId9"/>
    <p:sldId id="285" r:id="rId10"/>
    <p:sldId id="261" r:id="rId11"/>
    <p:sldId id="288" r:id="rId12"/>
    <p:sldId id="297" r:id="rId13"/>
    <p:sldId id="290" r:id="rId14"/>
    <p:sldId id="296" r:id="rId15"/>
    <p:sldId id="294" r:id="rId16"/>
    <p:sldId id="29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28" userDrawn="1">
          <p15:clr>
            <a:srgbClr val="A4A3A4"/>
          </p15:clr>
        </p15:guide>
        <p15:guide id="2" pos="6216" userDrawn="1">
          <p15:clr>
            <a:srgbClr val="A4A3A4"/>
          </p15:clr>
        </p15:guide>
        <p15:guide id="3" pos="1440" userDrawn="1">
          <p15:clr>
            <a:srgbClr val="A4A3A4"/>
          </p15:clr>
        </p15:guide>
        <p15:guide id="4" orient="horz" pos="2352" userDrawn="1">
          <p15:clr>
            <a:srgbClr val="A4A3A4"/>
          </p15:clr>
        </p15:guide>
        <p15:guide id="5" orient="horz" pos="936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orient="horz" pos="31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C46A"/>
    <a:srgbClr val="97EFD3"/>
    <a:srgbClr val="F15574"/>
    <a:srgbClr val="F4EBE8"/>
    <a:srgbClr val="ECC4BF"/>
    <a:srgbClr val="C9ABA7"/>
    <a:srgbClr val="28282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899" autoAdjust="0"/>
  </p:normalViewPr>
  <p:slideViewPr>
    <p:cSldViewPr snapToGrid="0" snapToObjects="1" showGuides="1">
      <p:cViewPr varScale="1">
        <p:scale>
          <a:sx n="109" d="100"/>
          <a:sy n="109" d="100"/>
        </p:scale>
        <p:origin x="612" y="96"/>
      </p:cViewPr>
      <p:guideLst>
        <p:guide orient="horz" pos="528"/>
        <p:guide pos="6216"/>
        <p:guide pos="1440"/>
        <p:guide orient="horz" pos="2352"/>
        <p:guide orient="horz" pos="936"/>
        <p:guide pos="3840"/>
        <p:guide orient="horz" pos="314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38102F-BFA3-4357-9FA0-3A064E6F1B5A}" type="datetimeFigureOut">
              <a:rPr lang="en-US" smtClean="0"/>
              <a:t>12/17/2025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D3DFC-11A7-4DDF-8AEE-A5ACE051EBF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30090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2240280"/>
            <a:ext cx="4873752" cy="1709928"/>
          </a:xfrm>
        </p:spPr>
        <p:txBody>
          <a:bodyPr anchor="b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6"/>
            <a:ext cx="4873752" cy="630936"/>
          </a:xfrm>
        </p:spPr>
        <p:txBody>
          <a:bodyPr>
            <a:noAutofit/>
          </a:bodyPr>
          <a:lstStyle>
            <a:lvl1pPr marL="54864" indent="0" algn="l">
              <a:lnSpc>
                <a:spcPct val="120000"/>
              </a:lnSpc>
              <a:spcBef>
                <a:spcPts val="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46779" y="812292"/>
            <a:ext cx="383462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975914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BDBB369-4213-AA70-D2DD-33F4E9E1F195}"/>
              </a:ext>
            </a:extLst>
          </p:cNvPr>
          <p:cNvSpPr/>
          <p:nvPr userDrawn="1"/>
        </p:nvSpPr>
        <p:spPr>
          <a:xfrm>
            <a:off x="1072604" y="2550039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3BF27898-0ACC-24EB-589A-96F29C94157A}"/>
              </a:ext>
            </a:extLst>
          </p:cNvPr>
          <p:cNvSpPr/>
          <p:nvPr userDrawn="1"/>
        </p:nvSpPr>
        <p:spPr>
          <a:xfrm>
            <a:off x="3235665" y="2522510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62CA34BE-87A5-8F47-C395-886E6870CF67}"/>
              </a:ext>
            </a:extLst>
          </p:cNvPr>
          <p:cNvSpPr/>
          <p:nvPr userDrawn="1"/>
        </p:nvSpPr>
        <p:spPr>
          <a:xfrm>
            <a:off x="5415148" y="2513962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E432D5F8-7F62-B5A0-F3AC-814BFBEEB0ED}"/>
              </a:ext>
            </a:extLst>
          </p:cNvPr>
          <p:cNvSpPr/>
          <p:nvPr userDrawn="1"/>
        </p:nvSpPr>
        <p:spPr>
          <a:xfrm>
            <a:off x="7530416" y="2524926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FBCE3915-CF40-BF29-2DBB-D9F447CC7555}"/>
              </a:ext>
            </a:extLst>
          </p:cNvPr>
          <p:cNvSpPr/>
          <p:nvPr userDrawn="1"/>
        </p:nvSpPr>
        <p:spPr>
          <a:xfrm>
            <a:off x="9709899" y="2516378"/>
            <a:ext cx="1622434" cy="1622434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811789E5-14E6-E7AB-C9D8-6E51B4544B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8672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AC40220B-3ED2-1841-92D5-C0056EF474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154680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3" name="Text Placeholder 19">
            <a:extLst>
              <a:ext uri="{FF2B5EF4-FFF2-40B4-BE49-F238E27FC236}">
                <a16:creationId xmlns:a16="http://schemas.microsoft.com/office/drawing/2014/main" id="{B8BC651C-16ED-1741-08D3-8BA2D618C65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33095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4" name="Text Placeholder 19">
            <a:extLst>
              <a:ext uri="{FF2B5EF4-FFF2-40B4-BE49-F238E27FC236}">
                <a16:creationId xmlns:a16="http://schemas.microsoft.com/office/drawing/2014/main" id="{B42AFC50-5862-D501-9586-4A96D4DA667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443216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5" name="Text Placeholder 19">
            <a:extLst>
              <a:ext uri="{FF2B5EF4-FFF2-40B4-BE49-F238E27FC236}">
                <a16:creationId xmlns:a16="http://schemas.microsoft.com/office/drawing/2014/main" id="{45772425-B358-35A8-C707-76C81B500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628632" y="2441448"/>
            <a:ext cx="1622425" cy="1622425"/>
          </a:xfrm>
          <a:prstGeom prst="ellipse">
            <a:avLst/>
          </a:prstGeom>
          <a:solidFill>
            <a:schemeClr val="accent3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54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0</a:t>
            </a:r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B0B8A0CF-58B1-629F-C8DB-238E5114277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4102" y="432511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3973DBDD-5F4C-3094-B5AB-751AF36037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92056" y="432670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6A7033DE-A188-7F2B-B42D-3B4334B2C4B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168328" y="4313642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82C8DA85-8265-9485-A51D-73E1629CC54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7985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0594F27-59D4-99D2-77B5-71915573EDA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466008" y="4319944"/>
            <a:ext cx="1947672" cy="630936"/>
          </a:xfrm>
        </p:spPr>
        <p:txBody>
          <a:bodyPr/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748925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with Caption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F51DD675-2DC4-A4BE-C624-3048A2E666B7}"/>
              </a:ext>
            </a:extLst>
          </p:cNvPr>
          <p:cNvSpPr/>
          <p:nvPr userDrawn="1"/>
        </p:nvSpPr>
        <p:spPr>
          <a:xfrm>
            <a:off x="809553" y="1012104"/>
            <a:ext cx="6957749" cy="506173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328;p33">
            <a:extLst>
              <a:ext uri="{FF2B5EF4-FFF2-40B4-BE49-F238E27FC236}">
                <a16:creationId xmlns:a16="http://schemas.microsoft.com/office/drawing/2014/main" id="{A0952ED0-9FCB-B6D2-E806-E2663B8961D0}"/>
              </a:ext>
            </a:extLst>
          </p:cNvPr>
          <p:cNvSpPr/>
          <p:nvPr userDrawn="1"/>
        </p:nvSpPr>
        <p:spPr>
          <a:xfrm>
            <a:off x="600338" y="782757"/>
            <a:ext cx="6957749" cy="506173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719072"/>
            <a:ext cx="5038344" cy="1709928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BC3CDDF-FEA3-712D-9071-515D264F06E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296656" y="0"/>
            <a:ext cx="3895344" cy="6858000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9888" y="3054096"/>
            <a:ext cx="5010912" cy="2130552"/>
          </a:xfrm>
        </p:spPr>
        <p:txBody>
          <a:bodyPr/>
          <a:lstStyle>
            <a:lvl1pPr marL="54864" indent="0">
              <a:lnSpc>
                <a:spcPct val="12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4F7CD76-D087-685D-2E27-537F34D67EBE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C63F889-82B6-D594-DA07-4C82AE33663F}"/>
              </a:ext>
            </a:extLst>
          </p:cNvPr>
          <p:cNvGrpSpPr/>
          <p:nvPr userDrawn="1"/>
        </p:nvGrpSpPr>
        <p:grpSpPr>
          <a:xfrm>
            <a:off x="0" y="6527001"/>
            <a:ext cx="8294153" cy="5617"/>
            <a:chOff x="0" y="6527001"/>
            <a:chExt cx="8294153" cy="561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3F4BFE95-6DCA-752C-0F0C-CCAF1A576CD0}"/>
                </a:ext>
              </a:extLst>
            </p:cNvPr>
            <p:cNvCxnSpPr>
              <a:cxnSpLocks/>
            </p:cNvCxnSpPr>
            <p:nvPr/>
          </p:nvCxnSpPr>
          <p:spPr>
            <a:xfrm>
              <a:off x="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3920C2FA-C2E7-21E2-09D0-3BA6B1BC2C1E}"/>
                </a:ext>
              </a:extLst>
            </p:cNvPr>
            <p:cNvCxnSpPr>
              <a:cxnSpLocks/>
            </p:cNvCxnSpPr>
            <p:nvPr/>
          </p:nvCxnSpPr>
          <p:spPr>
            <a:xfrm>
              <a:off x="4358640" y="6527001"/>
              <a:ext cx="3935513" cy="5617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8208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8D51F-4DA4-5AB7-6ACD-17065B86D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017520" cy="1938528"/>
          </a:xfrm>
        </p:spPr>
        <p:txBody>
          <a:bodyPr anchor="t"/>
          <a:lstStyle>
            <a:lvl1pPr algn="l"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264711-7A11-A788-DD48-17D0C3B08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4279392"/>
            <a:ext cx="2980944" cy="40233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9061A64A-DA6A-5D22-BE0B-94B0626A6CF1}"/>
              </a:ext>
            </a:extLst>
          </p:cNvPr>
          <p:cNvSpPr/>
          <p:nvPr userDrawn="1"/>
        </p:nvSpPr>
        <p:spPr>
          <a:xfrm>
            <a:off x="5102241" y="597060"/>
            <a:ext cx="5949692" cy="5949692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8E5310-5724-6031-306F-4110AC65EBDB}"/>
              </a:ext>
            </a:extLst>
          </p:cNvPr>
          <p:cNvSpPr>
            <a:spLocks noGrp="1" noChangeAspect="1"/>
          </p:cNvSpPr>
          <p:nvPr>
            <p:ph type="pic" sz="quarter" idx="10"/>
          </p:nvPr>
        </p:nvSpPr>
        <p:spPr>
          <a:xfrm>
            <a:off x="5001768" y="420624"/>
            <a:ext cx="5897880" cy="5897880"/>
          </a:xfrm>
          <a:prstGeom prst="ellipse">
            <a:avLst/>
          </a:prstGeom>
          <a:solidFill>
            <a:schemeClr val="accent1"/>
          </a:solidFill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9116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11000232" cy="4160520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4CBAEF-CF24-7502-B796-D47DF23F28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D9E7CE-C596-EE32-BBFE-799C10EFB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90B60C-999F-167B-3927-D752A0DE6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120134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327;p33">
            <a:extLst>
              <a:ext uri="{FF2B5EF4-FFF2-40B4-BE49-F238E27FC236}">
                <a16:creationId xmlns:a16="http://schemas.microsoft.com/office/drawing/2014/main" id="{EA1EE280-E44E-F71B-ED1B-CA8CEDEE6175}"/>
              </a:ext>
            </a:extLst>
          </p:cNvPr>
          <p:cNvSpPr/>
          <p:nvPr userDrawn="1"/>
        </p:nvSpPr>
        <p:spPr>
          <a:xfrm>
            <a:off x="1087280" y="1161412"/>
            <a:ext cx="10221119" cy="4831742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accent2">
                  <a:lumMod val="20000"/>
                  <a:lumOff val="80000"/>
                </a:schemeClr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328;p33">
            <a:extLst>
              <a:ext uri="{FF2B5EF4-FFF2-40B4-BE49-F238E27FC236}">
                <a16:creationId xmlns:a16="http://schemas.microsoft.com/office/drawing/2014/main" id="{332C8624-D848-DF0C-9104-7A2655E4A0FE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2072" y="2322576"/>
            <a:ext cx="6473952" cy="1901952"/>
          </a:xfrm>
        </p:spPr>
        <p:txBody>
          <a:bodyPr anchor="ctr"/>
          <a:lstStyle>
            <a:lvl1pPr algn="l">
              <a:lnSpc>
                <a:spcPct val="90000"/>
              </a:lnSpc>
              <a:defRPr sz="4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4817D722-78FF-E98D-229F-DDC8146F55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27874" y="809103"/>
            <a:ext cx="1798955" cy="2062163"/>
          </a:xfrm>
        </p:spPr>
        <p:txBody>
          <a:bodyPr anchor="t"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“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0F6C1B-F86D-84E1-F13C-1A2310E1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62072" y="4334256"/>
            <a:ext cx="2340864" cy="585216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0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F9A35D83-86B3-5132-45B2-6382E8F3A4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281160" y="3957272"/>
            <a:ext cx="1798955" cy="2062163"/>
          </a:xfrm>
        </p:spPr>
        <p:txBody>
          <a:bodyPr/>
          <a:lstStyle>
            <a:lvl1pPr marL="0" indent="0">
              <a:buNone/>
              <a:defRPr sz="25000" b="1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”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53ABF-1C17-E7D0-EEB7-468CEDF285C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A64DF1-77A3-B856-5F46-12724706B8A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961FC7-9CAD-4B2D-A8F6-C172AF6D5EB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884380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9;p53">
            <a:extLst>
              <a:ext uri="{FF2B5EF4-FFF2-40B4-BE49-F238E27FC236}">
                <a16:creationId xmlns:a16="http://schemas.microsoft.com/office/drawing/2014/main" id="{E21113D2-FC9F-27EC-7A45-E8F7695D1407}"/>
              </a:ext>
            </a:extLst>
          </p:cNvPr>
          <p:cNvSpPr/>
          <p:nvPr userDrawn="1"/>
        </p:nvSpPr>
        <p:spPr>
          <a:xfrm>
            <a:off x="694922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9;p53">
            <a:extLst>
              <a:ext uri="{FF2B5EF4-FFF2-40B4-BE49-F238E27FC236}">
                <a16:creationId xmlns:a16="http://schemas.microsoft.com/office/drawing/2014/main" id="{AD0B836B-7152-D6F5-7044-4B3B321454F5}"/>
              </a:ext>
            </a:extLst>
          </p:cNvPr>
          <p:cNvSpPr/>
          <p:nvPr userDrawn="1"/>
        </p:nvSpPr>
        <p:spPr>
          <a:xfrm>
            <a:off x="3541000" y="2330750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9;p53">
            <a:extLst>
              <a:ext uri="{FF2B5EF4-FFF2-40B4-BE49-F238E27FC236}">
                <a16:creationId xmlns:a16="http://schemas.microsoft.com/office/drawing/2014/main" id="{65518B88-F549-D8C7-0CD2-91E7CABE5E13}"/>
              </a:ext>
            </a:extLst>
          </p:cNvPr>
          <p:cNvSpPr/>
          <p:nvPr userDrawn="1"/>
        </p:nvSpPr>
        <p:spPr>
          <a:xfrm>
            <a:off x="6387080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149;p53">
            <a:extLst>
              <a:ext uri="{FF2B5EF4-FFF2-40B4-BE49-F238E27FC236}">
                <a16:creationId xmlns:a16="http://schemas.microsoft.com/office/drawing/2014/main" id="{EF098B7F-7320-E28C-D4A0-9C0D6072BDA7}"/>
              </a:ext>
            </a:extLst>
          </p:cNvPr>
          <p:cNvSpPr/>
          <p:nvPr userDrawn="1"/>
        </p:nvSpPr>
        <p:spPr>
          <a:xfrm>
            <a:off x="9233158" y="2328404"/>
            <a:ext cx="2542032" cy="3200400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2193042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2193042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2169547"/>
            <a:ext cx="2514600" cy="3200400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2377440"/>
          <a:lstStyle>
            <a:lvl1pPr marL="0" indent="0" algn="ctr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2169547"/>
            <a:ext cx="2487168" cy="210312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4846546"/>
            <a:ext cx="2514600" cy="338328"/>
          </a:xfrm>
        </p:spPr>
        <p:txBody>
          <a:bodyPr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8252B54-8A68-DB21-54FB-342276BCEE38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384EF8F-B039-D242-A81B-F393B674C274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A9D6E63-D581-350F-03A0-665A80481391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A05D09F-A5CA-2745-537C-05333575CD8F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F2B86B-C1F2-7E0E-C065-E2B156A7F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5DA4D1-2752-E7A4-2EB8-33E55361D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C200B8-5151-AE1E-3DA7-04B965986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39377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x8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149;p53">
            <a:extLst>
              <a:ext uri="{FF2B5EF4-FFF2-40B4-BE49-F238E27FC236}">
                <a16:creationId xmlns:a16="http://schemas.microsoft.com/office/drawing/2014/main" id="{559D8666-7371-3C57-AFFE-49810709BDDB}"/>
              </a:ext>
            </a:extLst>
          </p:cNvPr>
          <p:cNvSpPr/>
          <p:nvPr userDrawn="1"/>
        </p:nvSpPr>
        <p:spPr>
          <a:xfrm>
            <a:off x="663551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149;p53">
            <a:extLst>
              <a:ext uri="{FF2B5EF4-FFF2-40B4-BE49-F238E27FC236}">
                <a16:creationId xmlns:a16="http://schemas.microsoft.com/office/drawing/2014/main" id="{434B564B-DE03-74A6-773C-0FD4632658D1}"/>
              </a:ext>
            </a:extLst>
          </p:cNvPr>
          <p:cNvSpPr/>
          <p:nvPr userDrawn="1"/>
        </p:nvSpPr>
        <p:spPr>
          <a:xfrm>
            <a:off x="663550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149;p53">
            <a:extLst>
              <a:ext uri="{FF2B5EF4-FFF2-40B4-BE49-F238E27FC236}">
                <a16:creationId xmlns:a16="http://schemas.microsoft.com/office/drawing/2014/main" id="{A98F51D8-7768-BB9C-DEFD-FE6F101B538B}"/>
              </a:ext>
            </a:extLst>
          </p:cNvPr>
          <p:cNvSpPr/>
          <p:nvPr userDrawn="1"/>
        </p:nvSpPr>
        <p:spPr>
          <a:xfrm>
            <a:off x="3509629" y="1967633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149;p53">
            <a:extLst>
              <a:ext uri="{FF2B5EF4-FFF2-40B4-BE49-F238E27FC236}">
                <a16:creationId xmlns:a16="http://schemas.microsoft.com/office/drawing/2014/main" id="{824DDB7E-F583-BE45-8440-04134133EF5E}"/>
              </a:ext>
            </a:extLst>
          </p:cNvPr>
          <p:cNvSpPr/>
          <p:nvPr userDrawn="1"/>
        </p:nvSpPr>
        <p:spPr>
          <a:xfrm>
            <a:off x="3509628" y="4337851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149;p53">
            <a:extLst>
              <a:ext uri="{FF2B5EF4-FFF2-40B4-BE49-F238E27FC236}">
                <a16:creationId xmlns:a16="http://schemas.microsoft.com/office/drawing/2014/main" id="{3AB34327-1213-C6F7-069A-661286889411}"/>
              </a:ext>
            </a:extLst>
          </p:cNvPr>
          <p:cNvSpPr/>
          <p:nvPr userDrawn="1"/>
        </p:nvSpPr>
        <p:spPr>
          <a:xfrm>
            <a:off x="6355709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149;p53">
            <a:extLst>
              <a:ext uri="{FF2B5EF4-FFF2-40B4-BE49-F238E27FC236}">
                <a16:creationId xmlns:a16="http://schemas.microsoft.com/office/drawing/2014/main" id="{B6BF1339-971D-E8EC-9A92-C646A04A9796}"/>
              </a:ext>
            </a:extLst>
          </p:cNvPr>
          <p:cNvSpPr/>
          <p:nvPr userDrawn="1"/>
        </p:nvSpPr>
        <p:spPr>
          <a:xfrm>
            <a:off x="6355708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4" name="Google Shape;1149;p53">
            <a:extLst>
              <a:ext uri="{FF2B5EF4-FFF2-40B4-BE49-F238E27FC236}">
                <a16:creationId xmlns:a16="http://schemas.microsoft.com/office/drawing/2014/main" id="{2C16FE32-0722-CA1D-92A1-77B7780BDE81}"/>
              </a:ext>
            </a:extLst>
          </p:cNvPr>
          <p:cNvSpPr/>
          <p:nvPr userDrawn="1"/>
        </p:nvSpPr>
        <p:spPr>
          <a:xfrm>
            <a:off x="9201787" y="1965287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149;p53">
            <a:extLst>
              <a:ext uri="{FF2B5EF4-FFF2-40B4-BE49-F238E27FC236}">
                <a16:creationId xmlns:a16="http://schemas.microsoft.com/office/drawing/2014/main" id="{A3D368EA-D182-9937-D248-E4051379E257}"/>
              </a:ext>
            </a:extLst>
          </p:cNvPr>
          <p:cNvSpPr/>
          <p:nvPr userDrawn="1"/>
        </p:nvSpPr>
        <p:spPr>
          <a:xfrm>
            <a:off x="9201786" y="4335505"/>
            <a:ext cx="2543865" cy="2085433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7FDA4E-49F9-223C-DA55-A79802EE1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2349526F-21BB-B06B-612E-8AAA322B41D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6581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9DE91A1-A01A-B800-F6EB-C013020202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953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733EF8C8-3849-9C80-1F6E-7038D113478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22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6" name="Text Placeholder 24">
            <a:extLst>
              <a:ext uri="{FF2B5EF4-FFF2-40B4-BE49-F238E27FC236}">
                <a16:creationId xmlns:a16="http://schemas.microsoft.com/office/drawing/2014/main" id="{F27A4420-EB9D-589B-DE9E-4CFCC6B25A6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6581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7" name="Picture Placeholder 22">
            <a:extLst>
              <a:ext uri="{FF2B5EF4-FFF2-40B4-BE49-F238E27FC236}">
                <a16:creationId xmlns:a16="http://schemas.microsoft.com/office/drawing/2014/main" id="{D76F8DA4-2C9A-48DE-DB4A-045A11601F4C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57953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47" name="Text Placeholder 26">
            <a:extLst>
              <a:ext uri="{FF2B5EF4-FFF2-40B4-BE49-F238E27FC236}">
                <a16:creationId xmlns:a16="http://schemas.microsoft.com/office/drawing/2014/main" id="{010C7458-97A7-97A1-88E7-1D3194A7EA4C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8022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4">
            <a:extLst>
              <a:ext uri="{FF2B5EF4-FFF2-40B4-BE49-F238E27FC236}">
                <a16:creationId xmlns:a16="http://schemas.microsoft.com/office/drawing/2014/main" id="{32F8A8CA-E278-E129-A09C-8C4B7CCA2DE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419856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Picture Placeholder 22">
            <a:extLst>
              <a:ext uri="{FF2B5EF4-FFF2-40B4-BE49-F238E27FC236}">
                <a16:creationId xmlns:a16="http://schemas.microsoft.com/office/drawing/2014/main" id="{3CFBF841-C094-5FA8-63F2-F5DA37C0359A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3433572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C76BA571-FE5C-F5F7-9056-20BD57DA678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19856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Text Placeholder 24">
            <a:extLst>
              <a:ext uri="{FF2B5EF4-FFF2-40B4-BE49-F238E27FC236}">
                <a16:creationId xmlns:a16="http://schemas.microsoft.com/office/drawing/2014/main" id="{27F73601-DBA6-A721-D6BF-321A387810A8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19856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22">
            <a:extLst>
              <a:ext uri="{FF2B5EF4-FFF2-40B4-BE49-F238E27FC236}">
                <a16:creationId xmlns:a16="http://schemas.microsoft.com/office/drawing/2014/main" id="{060504F7-2F69-FC38-B09C-5DCA35CD85A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3433572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0" name="Text Placeholder 26">
            <a:extLst>
              <a:ext uri="{FF2B5EF4-FFF2-40B4-BE49-F238E27FC236}">
                <a16:creationId xmlns:a16="http://schemas.microsoft.com/office/drawing/2014/main" id="{3843A45B-37B6-D773-B219-9EBAD5F1953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419856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7F9FC21-D881-DB86-4C69-C07821DCF3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63640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3" name="Picture Placeholder 22">
            <a:extLst>
              <a:ext uri="{FF2B5EF4-FFF2-40B4-BE49-F238E27FC236}">
                <a16:creationId xmlns:a16="http://schemas.microsoft.com/office/drawing/2014/main" id="{FE2E99DA-5661-F860-9E54-9C42590265F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77356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4" name="Text Placeholder 26">
            <a:extLst>
              <a:ext uri="{FF2B5EF4-FFF2-40B4-BE49-F238E27FC236}">
                <a16:creationId xmlns:a16="http://schemas.microsoft.com/office/drawing/2014/main" id="{99F1332D-1A76-8252-3A4A-73B5BE80BD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263640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Text Placeholder 24">
            <a:extLst>
              <a:ext uri="{FF2B5EF4-FFF2-40B4-BE49-F238E27FC236}">
                <a16:creationId xmlns:a16="http://schemas.microsoft.com/office/drawing/2014/main" id="{E5E9A104-54F0-5100-0B27-DBD2DF20678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263640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2" name="Picture Placeholder 22">
            <a:extLst>
              <a:ext uri="{FF2B5EF4-FFF2-40B4-BE49-F238E27FC236}">
                <a16:creationId xmlns:a16="http://schemas.microsoft.com/office/drawing/2014/main" id="{23469072-7775-90E2-6C92-C6D03C1DACB0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6277356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26">
            <a:extLst>
              <a:ext uri="{FF2B5EF4-FFF2-40B4-BE49-F238E27FC236}">
                <a16:creationId xmlns:a16="http://schemas.microsoft.com/office/drawing/2014/main" id="{BF06B9AA-555D-874C-1198-B3ED9EBC714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63640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Text Placeholder 24">
            <a:extLst>
              <a:ext uri="{FF2B5EF4-FFF2-40B4-BE49-F238E27FC236}">
                <a16:creationId xmlns:a16="http://schemas.microsoft.com/office/drawing/2014/main" id="{47253530-631C-01D6-E4D5-53EA91819AC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107424" y="186537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6" name="Picture Placeholder 22">
            <a:extLst>
              <a:ext uri="{FF2B5EF4-FFF2-40B4-BE49-F238E27FC236}">
                <a16:creationId xmlns:a16="http://schemas.microsoft.com/office/drawing/2014/main" id="{2087F48D-BCD6-2370-DFEB-3DC855770580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121140" y="1874520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7" name="Text Placeholder 26">
            <a:extLst>
              <a:ext uri="{FF2B5EF4-FFF2-40B4-BE49-F238E27FC236}">
                <a16:creationId xmlns:a16="http://schemas.microsoft.com/office/drawing/2014/main" id="{2730E53E-4C0B-1C22-8754-2D69B55DF37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107424" y="3584901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4" name="Text Placeholder 24">
            <a:extLst>
              <a:ext uri="{FF2B5EF4-FFF2-40B4-BE49-F238E27FC236}">
                <a16:creationId xmlns:a16="http://schemas.microsoft.com/office/drawing/2014/main" id="{9690986C-4F11-A46D-923C-CCC08AB6CB7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9107424" y="4242816"/>
            <a:ext cx="2514600" cy="2084832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tIns="1490472"/>
          <a:lstStyle>
            <a:lvl1pPr marL="0" indent="0" algn="ctr">
              <a:buFont typeface="Arial" panose="020B0604020202020204" pitchFamily="34" charset="0"/>
              <a:buNone/>
              <a:defRPr sz="16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5" name="Picture Placeholder 22">
            <a:extLst>
              <a:ext uri="{FF2B5EF4-FFF2-40B4-BE49-F238E27FC236}">
                <a16:creationId xmlns:a16="http://schemas.microsoft.com/office/drawing/2014/main" id="{A4293B55-9185-9732-2F46-4B62C7F1F21E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9121140" y="4242816"/>
            <a:ext cx="2487168" cy="1280160"/>
          </a:xfrm>
          <a:ln w="25400">
            <a:solidFill>
              <a:schemeClr val="tx1"/>
            </a:solidFill>
          </a:ln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26">
            <a:extLst>
              <a:ext uri="{FF2B5EF4-FFF2-40B4-BE49-F238E27FC236}">
                <a16:creationId xmlns:a16="http://schemas.microsoft.com/office/drawing/2014/main" id="{B8529D99-B7B2-6411-E928-9FA204E3842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107424" y="5947269"/>
            <a:ext cx="2514600" cy="274320"/>
          </a:xfr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06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is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69EB71-EE42-930D-4E54-FA0F44BD2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1947672"/>
            <a:ext cx="3209544" cy="2862072"/>
          </a:xfrm>
        </p:spPr>
        <p:txBody>
          <a:bodyPr anchor="ctr"/>
          <a:lstStyle>
            <a:lvl1pPr algn="l"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247;p56">
            <a:extLst>
              <a:ext uri="{FF2B5EF4-FFF2-40B4-BE49-F238E27FC236}">
                <a16:creationId xmlns:a16="http://schemas.microsoft.com/office/drawing/2014/main" id="{1A52F175-2E39-E9BE-B4DF-67098DB248AA}"/>
              </a:ext>
            </a:extLst>
          </p:cNvPr>
          <p:cNvSpPr/>
          <p:nvPr userDrawn="1"/>
        </p:nvSpPr>
        <p:spPr>
          <a:xfrm>
            <a:off x="5607119" y="34704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accent2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9" name="Google Shape;1264;p56">
            <a:extLst>
              <a:ext uri="{FF2B5EF4-FFF2-40B4-BE49-F238E27FC236}">
                <a16:creationId xmlns:a16="http://schemas.microsoft.com/office/drawing/2014/main" id="{CE3B3000-733D-1995-D39A-E659E5A429CC}"/>
              </a:ext>
            </a:extLst>
          </p:cNvPr>
          <p:cNvSpPr/>
          <p:nvPr userDrawn="1"/>
        </p:nvSpPr>
        <p:spPr>
          <a:xfrm>
            <a:off x="5607119" y="16236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278;p56">
            <a:extLst>
              <a:ext uri="{FF2B5EF4-FFF2-40B4-BE49-F238E27FC236}">
                <a16:creationId xmlns:a16="http://schemas.microsoft.com/office/drawing/2014/main" id="{F1BC0AB2-17DA-D97E-3052-DA48D80F7428}"/>
              </a:ext>
            </a:extLst>
          </p:cNvPr>
          <p:cNvSpPr/>
          <p:nvPr userDrawn="1"/>
        </p:nvSpPr>
        <p:spPr>
          <a:xfrm>
            <a:off x="5607119" y="292595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3" name="Google Shape;1278;p56">
            <a:extLst>
              <a:ext uri="{FF2B5EF4-FFF2-40B4-BE49-F238E27FC236}">
                <a16:creationId xmlns:a16="http://schemas.microsoft.com/office/drawing/2014/main" id="{C860490F-E3DB-3E9F-0AC6-F04949DC59C3}"/>
              </a:ext>
            </a:extLst>
          </p:cNvPr>
          <p:cNvSpPr/>
          <p:nvPr userDrawn="1"/>
        </p:nvSpPr>
        <p:spPr>
          <a:xfrm>
            <a:off x="5607120" y="4223036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5" name="Google Shape;1278;p56">
            <a:extLst>
              <a:ext uri="{FF2B5EF4-FFF2-40B4-BE49-F238E27FC236}">
                <a16:creationId xmlns:a16="http://schemas.microsoft.com/office/drawing/2014/main" id="{522E5778-EA03-EFC4-08AA-ECB1C07ED56E}"/>
              </a:ext>
            </a:extLst>
          </p:cNvPr>
          <p:cNvSpPr/>
          <p:nvPr userDrawn="1"/>
        </p:nvSpPr>
        <p:spPr>
          <a:xfrm>
            <a:off x="5607120" y="5519473"/>
            <a:ext cx="6281928" cy="1039748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17" name="Google Shape;1268;p56">
            <a:extLst>
              <a:ext uri="{FF2B5EF4-FFF2-40B4-BE49-F238E27FC236}">
                <a16:creationId xmlns:a16="http://schemas.microsoft.com/office/drawing/2014/main" id="{EEA0BE49-92E1-A1A3-40E0-DDAA5511F637}"/>
              </a:ext>
            </a:extLst>
          </p:cNvPr>
          <p:cNvSpPr/>
          <p:nvPr userDrawn="1"/>
        </p:nvSpPr>
        <p:spPr>
          <a:xfrm>
            <a:off x="4348745" y="1637743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9" name="Google Shape;1282;p56">
            <a:extLst>
              <a:ext uri="{FF2B5EF4-FFF2-40B4-BE49-F238E27FC236}">
                <a16:creationId xmlns:a16="http://schemas.microsoft.com/office/drawing/2014/main" id="{DF15F1EC-1D2B-FF49-7785-26BC7083A07C}"/>
              </a:ext>
            </a:extLst>
          </p:cNvPr>
          <p:cNvSpPr/>
          <p:nvPr userDrawn="1"/>
        </p:nvSpPr>
        <p:spPr>
          <a:xfrm>
            <a:off x="4348745" y="2927249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1" name="Google Shape;1282;p56">
            <a:extLst>
              <a:ext uri="{FF2B5EF4-FFF2-40B4-BE49-F238E27FC236}">
                <a16:creationId xmlns:a16="http://schemas.microsoft.com/office/drawing/2014/main" id="{BE3FDD69-3D60-CF6B-97A3-7B2C1AE3100A}"/>
              </a:ext>
            </a:extLst>
          </p:cNvPr>
          <p:cNvSpPr/>
          <p:nvPr userDrawn="1"/>
        </p:nvSpPr>
        <p:spPr>
          <a:xfrm>
            <a:off x="4348745" y="427700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Google Shape;1282;p56">
            <a:extLst>
              <a:ext uri="{FF2B5EF4-FFF2-40B4-BE49-F238E27FC236}">
                <a16:creationId xmlns:a16="http://schemas.microsoft.com/office/drawing/2014/main" id="{E3BB1E5B-DA10-B332-D4B8-D551C3053C53}"/>
              </a:ext>
            </a:extLst>
          </p:cNvPr>
          <p:cNvSpPr/>
          <p:nvPr userDrawn="1"/>
        </p:nvSpPr>
        <p:spPr>
          <a:xfrm>
            <a:off x="4348745" y="5568541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5" name="Google Shape;1251;p56">
            <a:extLst>
              <a:ext uri="{FF2B5EF4-FFF2-40B4-BE49-F238E27FC236}">
                <a16:creationId xmlns:a16="http://schemas.microsoft.com/office/drawing/2014/main" id="{8D887B7F-9EBA-E7B8-64CE-5EAB1DF08E19}"/>
              </a:ext>
            </a:extLst>
          </p:cNvPr>
          <p:cNvSpPr/>
          <p:nvPr userDrawn="1"/>
        </p:nvSpPr>
        <p:spPr>
          <a:xfrm>
            <a:off x="4348745" y="361116"/>
            <a:ext cx="969865" cy="969865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7" name="Google Shape;1248;p56">
            <a:extLst>
              <a:ext uri="{FF2B5EF4-FFF2-40B4-BE49-F238E27FC236}">
                <a16:creationId xmlns:a16="http://schemas.microsoft.com/office/drawing/2014/main" id="{5AC86C31-7E67-B4EC-1AE0-291ED77F2214}"/>
              </a:ext>
            </a:extLst>
          </p:cNvPr>
          <p:cNvSpPr/>
          <p:nvPr userDrawn="1"/>
        </p:nvSpPr>
        <p:spPr>
          <a:xfrm>
            <a:off x="5512393" y="24143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29" name="Google Shape;1265;p56">
            <a:extLst>
              <a:ext uri="{FF2B5EF4-FFF2-40B4-BE49-F238E27FC236}">
                <a16:creationId xmlns:a16="http://schemas.microsoft.com/office/drawing/2014/main" id="{A7BF8E2B-5184-B584-D484-7D82C9DA6C41}"/>
              </a:ext>
            </a:extLst>
          </p:cNvPr>
          <p:cNvSpPr/>
          <p:nvPr userDrawn="1"/>
        </p:nvSpPr>
        <p:spPr>
          <a:xfrm>
            <a:off x="5512393" y="15180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1" name="Google Shape;1279;p56">
            <a:extLst>
              <a:ext uri="{FF2B5EF4-FFF2-40B4-BE49-F238E27FC236}">
                <a16:creationId xmlns:a16="http://schemas.microsoft.com/office/drawing/2014/main" id="{9E808B73-94D7-57E7-3837-3DA718162E5B}"/>
              </a:ext>
            </a:extLst>
          </p:cNvPr>
          <p:cNvSpPr/>
          <p:nvPr userDrawn="1"/>
        </p:nvSpPr>
        <p:spPr>
          <a:xfrm>
            <a:off x="5512393" y="2807563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3" name="Google Shape;1279;p56">
            <a:extLst>
              <a:ext uri="{FF2B5EF4-FFF2-40B4-BE49-F238E27FC236}">
                <a16:creationId xmlns:a16="http://schemas.microsoft.com/office/drawing/2014/main" id="{F340E0DF-98FD-EA55-7B4B-8E58FC5CFCDA}"/>
              </a:ext>
            </a:extLst>
          </p:cNvPr>
          <p:cNvSpPr/>
          <p:nvPr userDrawn="1"/>
        </p:nvSpPr>
        <p:spPr>
          <a:xfrm>
            <a:off x="5512394" y="4117420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79;p56">
            <a:extLst>
              <a:ext uri="{FF2B5EF4-FFF2-40B4-BE49-F238E27FC236}">
                <a16:creationId xmlns:a16="http://schemas.microsoft.com/office/drawing/2014/main" id="{1F52D7F5-AD34-C5B1-EEA2-F711AD3A8C3F}"/>
              </a:ext>
            </a:extLst>
          </p:cNvPr>
          <p:cNvSpPr/>
          <p:nvPr userDrawn="1"/>
        </p:nvSpPr>
        <p:spPr>
          <a:xfrm>
            <a:off x="5512394" y="5413857"/>
            <a:ext cx="6281928" cy="1039748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+mj-lt"/>
              <a:ea typeface="Karla"/>
              <a:cs typeface="Karla"/>
              <a:sym typeface="Karla"/>
            </a:endParaRPr>
          </a:p>
        </p:txBody>
      </p:sp>
      <p:sp>
        <p:nvSpPr>
          <p:cNvPr id="37" name="Google Shape;1251;p56">
            <a:extLst>
              <a:ext uri="{FF2B5EF4-FFF2-40B4-BE49-F238E27FC236}">
                <a16:creationId xmlns:a16="http://schemas.microsoft.com/office/drawing/2014/main" id="{A4889AFC-C17E-6AF6-25D9-F977ACD04A9D}"/>
              </a:ext>
            </a:extLst>
          </p:cNvPr>
          <p:cNvSpPr/>
          <p:nvPr userDrawn="1"/>
        </p:nvSpPr>
        <p:spPr>
          <a:xfrm>
            <a:off x="4290632" y="303003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9" name="Google Shape;1268;p56">
            <a:extLst>
              <a:ext uri="{FF2B5EF4-FFF2-40B4-BE49-F238E27FC236}">
                <a16:creationId xmlns:a16="http://schemas.microsoft.com/office/drawing/2014/main" id="{5E0F6889-9671-EA56-B88B-DBA6C149062C}"/>
              </a:ext>
            </a:extLst>
          </p:cNvPr>
          <p:cNvSpPr/>
          <p:nvPr userDrawn="1"/>
        </p:nvSpPr>
        <p:spPr>
          <a:xfrm>
            <a:off x="4290632" y="1579630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1" name="Google Shape;1282;p56">
            <a:extLst>
              <a:ext uri="{FF2B5EF4-FFF2-40B4-BE49-F238E27FC236}">
                <a16:creationId xmlns:a16="http://schemas.microsoft.com/office/drawing/2014/main" id="{44CB8F8B-1D14-EA9D-117E-79BB0DB776E9}"/>
              </a:ext>
            </a:extLst>
          </p:cNvPr>
          <p:cNvSpPr/>
          <p:nvPr userDrawn="1"/>
        </p:nvSpPr>
        <p:spPr>
          <a:xfrm>
            <a:off x="4290632" y="2869136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3" name="Google Shape;1282;p56">
            <a:extLst>
              <a:ext uri="{FF2B5EF4-FFF2-40B4-BE49-F238E27FC236}">
                <a16:creationId xmlns:a16="http://schemas.microsoft.com/office/drawing/2014/main" id="{9D8D9DEA-F6DA-EFDC-5DDF-946728969392}"/>
              </a:ext>
            </a:extLst>
          </p:cNvPr>
          <p:cNvSpPr/>
          <p:nvPr userDrawn="1"/>
        </p:nvSpPr>
        <p:spPr>
          <a:xfrm>
            <a:off x="4290632" y="4217824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5" name="Google Shape;1282;p56">
            <a:extLst>
              <a:ext uri="{FF2B5EF4-FFF2-40B4-BE49-F238E27FC236}">
                <a16:creationId xmlns:a16="http://schemas.microsoft.com/office/drawing/2014/main" id="{5B83F600-A2A8-FC3E-235C-F63589027CEC}"/>
              </a:ext>
            </a:extLst>
          </p:cNvPr>
          <p:cNvSpPr/>
          <p:nvPr userDrawn="1"/>
        </p:nvSpPr>
        <p:spPr>
          <a:xfrm>
            <a:off x="4290632" y="5510428"/>
            <a:ext cx="969865" cy="969865"/>
          </a:xfrm>
          <a:prstGeom prst="ellipse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47" name="Picture Placeholder 46">
            <a:extLst>
              <a:ext uri="{FF2B5EF4-FFF2-40B4-BE49-F238E27FC236}">
                <a16:creationId xmlns:a16="http://schemas.microsoft.com/office/drawing/2014/main" id="{3B37AA0A-CC3F-643E-4CA3-94EE9D0B955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455524" y="467895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3" name="Text Placeholder 52">
            <a:extLst>
              <a:ext uri="{FF2B5EF4-FFF2-40B4-BE49-F238E27FC236}">
                <a16:creationId xmlns:a16="http://schemas.microsoft.com/office/drawing/2014/main" id="{04148F56-845C-40C8-5EFE-44B32FB557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69864" y="457200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8" name="Text Placeholder 52">
            <a:extLst>
              <a:ext uri="{FF2B5EF4-FFF2-40B4-BE49-F238E27FC236}">
                <a16:creationId xmlns:a16="http://schemas.microsoft.com/office/drawing/2014/main" id="{6FAEB77B-C9AE-5EC8-3043-2C6C91015EF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4" y="780642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8" name="Picture Placeholder 46">
            <a:extLst>
              <a:ext uri="{FF2B5EF4-FFF2-40B4-BE49-F238E27FC236}">
                <a16:creationId xmlns:a16="http://schemas.microsoft.com/office/drawing/2014/main" id="{EA6CA3D6-A486-C220-D150-162068803F0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455524" y="1744522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4" name="Text Placeholder 52">
            <a:extLst>
              <a:ext uri="{FF2B5EF4-FFF2-40B4-BE49-F238E27FC236}">
                <a16:creationId xmlns:a16="http://schemas.microsoft.com/office/drawing/2014/main" id="{B70CC111-C404-5983-7E1A-758C72DA215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4" y="1746504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9" name="Text Placeholder 52">
            <a:extLst>
              <a:ext uri="{FF2B5EF4-FFF2-40B4-BE49-F238E27FC236}">
                <a16:creationId xmlns:a16="http://schemas.microsoft.com/office/drawing/2014/main" id="{0FACAEC0-F5EF-8921-74B5-2C775EC42E6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4" y="2069946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9" name="Picture Placeholder 46">
            <a:extLst>
              <a:ext uri="{FF2B5EF4-FFF2-40B4-BE49-F238E27FC236}">
                <a16:creationId xmlns:a16="http://schemas.microsoft.com/office/drawing/2014/main" id="{D85BED76-EF8A-3369-FA46-11513F2D223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455524" y="3034028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5" name="Text Placeholder 52">
            <a:extLst>
              <a:ext uri="{FF2B5EF4-FFF2-40B4-BE49-F238E27FC236}">
                <a16:creationId xmlns:a16="http://schemas.microsoft.com/office/drawing/2014/main" id="{3A752FC9-DE9C-9701-E24E-6F1AC075B16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69864" y="3035808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0" name="Text Placeholder 52">
            <a:extLst>
              <a:ext uri="{FF2B5EF4-FFF2-40B4-BE49-F238E27FC236}">
                <a16:creationId xmlns:a16="http://schemas.microsoft.com/office/drawing/2014/main" id="{5CA64FAC-BAC1-519A-1252-ED8A726B631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4" y="3359250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0" name="Picture Placeholder 46">
            <a:extLst>
              <a:ext uri="{FF2B5EF4-FFF2-40B4-BE49-F238E27FC236}">
                <a16:creationId xmlns:a16="http://schemas.microsoft.com/office/drawing/2014/main" id="{5FF1804E-BBAF-5060-07A3-705BCCF0D7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455524" y="4382716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6" name="Text Placeholder 52">
            <a:extLst>
              <a:ext uri="{FF2B5EF4-FFF2-40B4-BE49-F238E27FC236}">
                <a16:creationId xmlns:a16="http://schemas.microsoft.com/office/drawing/2014/main" id="{D03AC44E-421F-94EE-DC26-D4F6FB1D544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769864" y="4325112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1" name="Text Placeholder 52">
            <a:extLst>
              <a:ext uri="{FF2B5EF4-FFF2-40B4-BE49-F238E27FC236}">
                <a16:creationId xmlns:a16="http://schemas.microsoft.com/office/drawing/2014/main" id="{4806989D-2A9A-5590-1EF7-9BF0E1F4C43D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48554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1" name="Picture Placeholder 46">
            <a:extLst>
              <a:ext uri="{FF2B5EF4-FFF2-40B4-BE49-F238E27FC236}">
                <a16:creationId xmlns:a16="http://schemas.microsoft.com/office/drawing/2014/main" id="{C28AAD1A-4269-0A5C-7418-7DFC69060C9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455524" y="5675320"/>
            <a:ext cx="640080" cy="640080"/>
          </a:xfrm>
        </p:spPr>
        <p:txBody>
          <a:bodyPr anchor="ctr"/>
          <a:lstStyle>
            <a:lvl1pPr marL="0" indent="0" algn="ctr">
              <a:buNone/>
              <a:defRPr sz="9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7" name="Text Placeholder 52">
            <a:extLst>
              <a:ext uri="{FF2B5EF4-FFF2-40B4-BE49-F238E27FC236}">
                <a16:creationId xmlns:a16="http://schemas.microsoft.com/office/drawing/2014/main" id="{650C0EB3-5783-DC1F-09A3-02DFAA31642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769864" y="5614416"/>
            <a:ext cx="3840480" cy="338328"/>
          </a:xfrm>
        </p:spPr>
        <p:txBody>
          <a:bodyPr/>
          <a:lstStyle>
            <a:lvl1pPr marL="0" indent="0"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62" name="Text Placeholder 52">
            <a:extLst>
              <a:ext uri="{FF2B5EF4-FFF2-40B4-BE49-F238E27FC236}">
                <a16:creationId xmlns:a16="http://schemas.microsoft.com/office/drawing/2014/main" id="{94850C9F-BD14-9481-E7F6-526639251E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864" y="5937858"/>
            <a:ext cx="5029200" cy="338328"/>
          </a:xfrm>
        </p:spPr>
        <p:txBody>
          <a:bodyPr/>
          <a:lstStyle>
            <a:lvl1pPr marL="0" indent="0">
              <a:buNone/>
              <a:defRPr sz="1600">
                <a:latin typeface="+mn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74941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melin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251;p56">
            <a:extLst>
              <a:ext uri="{FF2B5EF4-FFF2-40B4-BE49-F238E27FC236}">
                <a16:creationId xmlns:a16="http://schemas.microsoft.com/office/drawing/2014/main" id="{5240ABBF-9F6E-51C2-3600-798F3A8C4868}"/>
              </a:ext>
            </a:extLst>
          </p:cNvPr>
          <p:cNvSpPr/>
          <p:nvPr userDrawn="1"/>
        </p:nvSpPr>
        <p:spPr>
          <a:xfrm>
            <a:off x="547230" y="194408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1251;p56">
            <a:extLst>
              <a:ext uri="{FF2B5EF4-FFF2-40B4-BE49-F238E27FC236}">
                <a16:creationId xmlns:a16="http://schemas.microsoft.com/office/drawing/2014/main" id="{724FD7F3-2232-7463-6613-3EF2344BD063}"/>
              </a:ext>
            </a:extLst>
          </p:cNvPr>
          <p:cNvSpPr/>
          <p:nvPr userDrawn="1"/>
        </p:nvSpPr>
        <p:spPr>
          <a:xfrm>
            <a:off x="4922989" y="194696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2" name="Google Shape;1251;p56">
            <a:extLst>
              <a:ext uri="{FF2B5EF4-FFF2-40B4-BE49-F238E27FC236}">
                <a16:creationId xmlns:a16="http://schemas.microsoft.com/office/drawing/2014/main" id="{234E24BE-6EC9-C62B-1B5F-EBE5C279EF38}"/>
              </a:ext>
            </a:extLst>
          </p:cNvPr>
          <p:cNvSpPr/>
          <p:nvPr userDrawn="1"/>
        </p:nvSpPr>
        <p:spPr>
          <a:xfrm>
            <a:off x="9225456" y="1924776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Google Shape;1251;p56">
            <a:extLst>
              <a:ext uri="{FF2B5EF4-FFF2-40B4-BE49-F238E27FC236}">
                <a16:creationId xmlns:a16="http://schemas.microsoft.com/office/drawing/2014/main" id="{F4987345-5BC3-6B09-35D1-118625B93B26}"/>
              </a:ext>
            </a:extLst>
          </p:cNvPr>
          <p:cNvSpPr/>
          <p:nvPr userDrawn="1"/>
        </p:nvSpPr>
        <p:spPr>
          <a:xfrm>
            <a:off x="2798649" y="3902220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6" name="Google Shape;1251;p56">
            <a:extLst>
              <a:ext uri="{FF2B5EF4-FFF2-40B4-BE49-F238E27FC236}">
                <a16:creationId xmlns:a16="http://schemas.microsoft.com/office/drawing/2014/main" id="{D24F97D8-E25C-583D-72FF-A9AD2A77A71F}"/>
              </a:ext>
            </a:extLst>
          </p:cNvPr>
          <p:cNvSpPr/>
          <p:nvPr userDrawn="1"/>
        </p:nvSpPr>
        <p:spPr>
          <a:xfrm>
            <a:off x="7156227" y="3880033"/>
            <a:ext cx="2529083" cy="2529083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1426A-0740-2EB9-FC34-9C04345935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C96B6B23-01AB-14E3-6F7D-14E56C8F7F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8788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0" name="Text Placeholder 35">
            <a:extLst>
              <a:ext uri="{FF2B5EF4-FFF2-40B4-BE49-F238E27FC236}">
                <a16:creationId xmlns:a16="http://schemas.microsoft.com/office/drawing/2014/main" id="{B5D9C006-6816-1398-2752-53296B2275E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44975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3" name="Text Placeholder 35">
            <a:extLst>
              <a:ext uri="{FF2B5EF4-FFF2-40B4-BE49-F238E27FC236}">
                <a16:creationId xmlns:a16="http://schemas.microsoft.com/office/drawing/2014/main" id="{5C67F012-5EC1-3C44-2545-C90EFB6C7A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137214" y="1836534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39" name="Text Placeholder 35">
            <a:extLst>
              <a:ext uri="{FF2B5EF4-FFF2-40B4-BE49-F238E27FC236}">
                <a16:creationId xmlns:a16="http://schemas.microsoft.com/office/drawing/2014/main" id="{84C1F7B9-544F-1D65-F30E-22B977B0EA4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710407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  <p:sp>
        <p:nvSpPr>
          <p:cNvPr id="41" name="Text Placeholder 35">
            <a:extLst>
              <a:ext uri="{FF2B5EF4-FFF2-40B4-BE49-F238E27FC236}">
                <a16:creationId xmlns:a16="http://schemas.microsoft.com/office/drawing/2014/main" id="{F0785379-F700-62B9-BF17-703A87E2989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067985" y="3813978"/>
            <a:ext cx="2528887" cy="2528887"/>
          </a:xfrm>
          <a:prstGeom prst="ellipse">
            <a:avLst/>
          </a:prstGeom>
          <a:solidFill>
            <a:schemeClr val="accent5"/>
          </a:solidFill>
          <a:ln w="25400">
            <a:solidFill>
              <a:schemeClr val="tx2"/>
            </a:solidFill>
          </a:ln>
        </p:spPr>
        <p:txBody>
          <a:bodyPr tIns="27432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latin typeface="+mj-lt"/>
              </a:defRPr>
            </a:lvl1pPr>
            <a:lvl2pPr marL="0" indent="0" algn="ctr">
              <a:lnSpc>
                <a:spcPct val="100000"/>
              </a:lnSpc>
              <a:spcBef>
                <a:spcPts val="600"/>
              </a:spcBef>
              <a:buNone/>
              <a:defRPr sz="1600"/>
            </a:lvl2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26600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34;p42">
            <a:extLst>
              <a:ext uri="{FF2B5EF4-FFF2-40B4-BE49-F238E27FC236}">
                <a16:creationId xmlns:a16="http://schemas.microsoft.com/office/drawing/2014/main" id="{8B24251C-09A2-7EC7-D81E-7B4EC1A6C8FB}"/>
              </a:ext>
            </a:extLst>
          </p:cNvPr>
          <p:cNvSpPr/>
          <p:nvPr userDrawn="1"/>
        </p:nvSpPr>
        <p:spPr>
          <a:xfrm>
            <a:off x="1043969" y="2096168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3" name="Google Shape;634;p42">
            <a:extLst>
              <a:ext uri="{FF2B5EF4-FFF2-40B4-BE49-F238E27FC236}">
                <a16:creationId xmlns:a16="http://schemas.microsoft.com/office/drawing/2014/main" id="{7095FC12-1305-9C50-D9A9-1BA4392374E6}"/>
              </a:ext>
            </a:extLst>
          </p:cNvPr>
          <p:cNvSpPr/>
          <p:nvPr userDrawn="1"/>
        </p:nvSpPr>
        <p:spPr>
          <a:xfrm>
            <a:off x="1043969" y="4160972"/>
            <a:ext cx="10271731" cy="1505316"/>
          </a:xfrm>
          <a:prstGeom prst="rect">
            <a:avLst/>
          </a:prstGeom>
          <a:solidFill>
            <a:schemeClr val="accent3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AA325A5B-8E43-DA35-85DE-66DB81C5F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CA26A7E-435E-AFBA-FECA-047481A83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92795" y="1920319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82CD3C-84E1-013B-FEDD-5B4008CD2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42E5F6B0-4BF8-B61C-19DC-44EADF2C6A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92795" y="4005858"/>
            <a:ext cx="10268712" cy="1505315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896112" rIns="6492240" anchor="ctr"/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2000" b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0" name="Content Placeholder 3">
            <a:extLst>
              <a:ext uri="{FF2B5EF4-FFF2-40B4-BE49-F238E27FC236}">
                <a16:creationId xmlns:a16="http://schemas.microsoft.com/office/drawing/2014/main" id="{710FDC74-97A7-7CF9-8479-7DF70FE009C4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645152" y="4093420"/>
            <a:ext cx="6408671" cy="1330189"/>
          </a:xfrm>
        </p:spPr>
        <p:txBody>
          <a:bodyPr anchor="ctr"/>
          <a:lstStyle>
            <a:lvl1pPr marL="0" indent="-137160">
              <a:lnSpc>
                <a:spcPct val="100000"/>
              </a:lnSpc>
              <a:spcBef>
                <a:spcPts val="0"/>
              </a:spcBef>
              <a:buSzPct val="50000"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A9E27A-A5B9-7554-B03C-977DD06971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B2D671-9FA9-57ED-C5BB-EF64BEB1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F944D9-3F95-D788-A7A5-9C541DBDE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780576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6481182" y="2106081"/>
            <a:ext cx="5056632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5054248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5048882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4604512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58128" y="1956816"/>
            <a:ext cx="5047488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6600154" y="2944368"/>
            <a:ext cx="4608576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89090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CB1F4-E4E2-E27F-87D0-6DFE66375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7" name="Google Shape;1148;p53">
            <a:extLst>
              <a:ext uri="{FF2B5EF4-FFF2-40B4-BE49-F238E27FC236}">
                <a16:creationId xmlns:a16="http://schemas.microsoft.com/office/drawing/2014/main" id="{D76333E0-FAE0-3B63-28EE-BA834131593C}"/>
              </a:ext>
            </a:extLst>
          </p:cNvPr>
          <p:cNvSpPr/>
          <p:nvPr userDrawn="1"/>
        </p:nvSpPr>
        <p:spPr>
          <a:xfrm>
            <a:off x="837094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1148;p53">
            <a:extLst>
              <a:ext uri="{FF2B5EF4-FFF2-40B4-BE49-F238E27FC236}">
                <a16:creationId xmlns:a16="http://schemas.microsoft.com/office/drawing/2014/main" id="{1BF10461-2A6D-BD12-B1D7-5A73DDD367A8}"/>
              </a:ext>
            </a:extLst>
          </p:cNvPr>
          <p:cNvSpPr/>
          <p:nvPr userDrawn="1"/>
        </p:nvSpPr>
        <p:spPr>
          <a:xfrm>
            <a:off x="4599233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1" name="Google Shape;1148;p53">
            <a:extLst>
              <a:ext uri="{FF2B5EF4-FFF2-40B4-BE49-F238E27FC236}">
                <a16:creationId xmlns:a16="http://schemas.microsoft.com/office/drawing/2014/main" id="{B21F23CA-8996-2ED3-865E-9CBB7B3DEF01}"/>
              </a:ext>
            </a:extLst>
          </p:cNvPr>
          <p:cNvSpPr/>
          <p:nvPr userDrawn="1"/>
        </p:nvSpPr>
        <p:spPr>
          <a:xfrm>
            <a:off x="808072" y="2106081"/>
            <a:ext cx="3249570" cy="3987012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8" name="Text Placeholder 24">
            <a:extLst>
              <a:ext uri="{FF2B5EF4-FFF2-40B4-BE49-F238E27FC236}">
                <a16:creationId xmlns:a16="http://schemas.microsoft.com/office/drawing/2014/main" id="{BF16B1C6-54F0-43B5-701B-5ACB9DB37B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580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86A122E7-1CF8-0AB9-3407-6E725320DC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32688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19" name="Text Placeholder 24">
            <a:extLst>
              <a:ext uri="{FF2B5EF4-FFF2-40B4-BE49-F238E27FC236}">
                <a16:creationId xmlns:a16="http://schemas.microsoft.com/office/drawing/2014/main" id="{9B6C5E12-67C8-B5AA-FC61-A40F6C388F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480560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92BD99C3-C1A1-E89B-FB77-6221D2FBE9A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715873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20" name="Text Placeholder 24">
            <a:extLst>
              <a:ext uri="{FF2B5EF4-FFF2-40B4-BE49-F238E27FC236}">
                <a16:creationId xmlns:a16="http://schemas.microsoft.com/office/drawing/2014/main" id="{F5C0C473-4EA8-206C-EDC5-DAF92DC87E7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7888" y="1956816"/>
            <a:ext cx="3246120" cy="3986784"/>
          </a:xfrm>
          <a:solidFill>
            <a:schemeClr val="accent5"/>
          </a:solidFill>
          <a:ln w="25400">
            <a:solidFill>
              <a:schemeClr val="dk1"/>
            </a:solidFill>
          </a:ln>
        </p:spPr>
        <p:txBody>
          <a:bodyPr lIns="320040" tIns="502920"/>
          <a:lstStyle>
            <a:lvl1pPr marL="0" indent="0" algn="l">
              <a:buFont typeface="Arial" panose="020B0604020202020204" pitchFamily="34" charset="0"/>
              <a:buNone/>
              <a:defRPr sz="2000">
                <a:latin typeface="+mj-lt"/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E3B2BF64-243E-E09B-24DD-86574712A72C}"/>
              </a:ext>
            </a:extLst>
          </p:cNvPr>
          <p:cNvSpPr>
            <a:spLocks noGrp="1"/>
          </p:cNvSpPr>
          <p:nvPr>
            <p:ph sz="half" idx="20"/>
          </p:nvPr>
        </p:nvSpPr>
        <p:spPr>
          <a:xfrm>
            <a:off x="8489914" y="2944368"/>
            <a:ext cx="2743200" cy="2785100"/>
          </a:xfrm>
        </p:spPr>
        <p:txBody>
          <a:bodyPr anchor="t"/>
          <a:lstStyle>
            <a:lvl1pPr marL="0" indent="0">
              <a:lnSpc>
                <a:spcPct val="100000"/>
              </a:lnSpc>
              <a:spcBef>
                <a:spcPts val="0"/>
              </a:spcBef>
              <a:buSzPct val="50000"/>
              <a:buNone/>
              <a:defRPr sz="1600"/>
            </a:lvl1pPr>
            <a:lvl2pPr marL="274320" indent="-137160">
              <a:lnSpc>
                <a:spcPct val="100000"/>
              </a:lnSpc>
              <a:spcBef>
                <a:spcPts val="0"/>
              </a:spcBef>
              <a:buSzPct val="50000"/>
              <a:defRPr sz="1400"/>
            </a:lvl2pPr>
            <a:lvl3pPr marL="411480" indent="-137160">
              <a:lnSpc>
                <a:spcPct val="100000"/>
              </a:lnSpc>
              <a:spcBef>
                <a:spcPts val="0"/>
              </a:spcBef>
              <a:buSzPct val="50000"/>
              <a:defRPr sz="1200"/>
            </a:lvl3pPr>
            <a:lvl4pPr marL="548640" indent="-137160">
              <a:lnSpc>
                <a:spcPct val="100000"/>
              </a:lnSpc>
              <a:spcBef>
                <a:spcPts val="0"/>
              </a:spcBef>
              <a:buSzPct val="50000"/>
              <a:defRPr sz="1100"/>
            </a:lvl4pPr>
            <a:lvl5pPr indent="-137160">
              <a:buSzPct val="50000"/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18DB23-E349-DF43-8126-A1F21B8C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774F0D-57B5-C6EE-016C-501DC8D7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F0D283-938B-8E26-1C43-DC3AD65091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2483168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327;p33">
            <a:extLst>
              <a:ext uri="{FF2B5EF4-FFF2-40B4-BE49-F238E27FC236}">
                <a16:creationId xmlns:a16="http://schemas.microsoft.com/office/drawing/2014/main" id="{E7EB222B-6CF5-9486-E495-4BBCFBA5DEE9}"/>
              </a:ext>
            </a:extLst>
          </p:cNvPr>
          <p:cNvSpPr/>
          <p:nvPr userDrawn="1"/>
        </p:nvSpPr>
        <p:spPr>
          <a:xfrm>
            <a:off x="5400719" y="1198578"/>
            <a:ext cx="6114430" cy="4794575"/>
          </a:xfrm>
          <a:prstGeom prst="rect">
            <a:avLst/>
          </a:prstGeom>
          <a:solidFill>
            <a:schemeClr val="accent2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9" name="Google Shape;328;p33">
            <a:extLst>
              <a:ext uri="{FF2B5EF4-FFF2-40B4-BE49-F238E27FC236}">
                <a16:creationId xmlns:a16="http://schemas.microsoft.com/office/drawing/2014/main" id="{1FEBC754-F0A8-F9F6-F804-7081E078D8F5}"/>
              </a:ext>
            </a:extLst>
          </p:cNvPr>
          <p:cNvSpPr/>
          <p:nvPr userDrawn="1"/>
        </p:nvSpPr>
        <p:spPr>
          <a:xfrm>
            <a:off x="5196524" y="838200"/>
            <a:ext cx="6114430" cy="49149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8F8B0E5-D249-4F2F-16F0-7A9A49B95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024" y="1783080"/>
            <a:ext cx="4959821" cy="1162762"/>
          </a:xfrm>
        </p:spPr>
        <p:txBody>
          <a:bodyPr/>
          <a:lstStyle>
            <a:lvl1pPr algn="l">
              <a:lnSpc>
                <a:spcPct val="90000"/>
              </a:lnSpc>
              <a:defRPr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52CFE759-845E-6170-DB8C-EA3FA075BB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351128" cy="6858000"/>
          </a:xfr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7189B6C-4236-0B00-D585-EEE5183EC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61888" y="2944368"/>
            <a:ext cx="4818888" cy="2130552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D37E9B-F86D-C91D-23CC-19F188DE8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72901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noProof="0" smtClean="0"/>
              <a:pPr/>
              <a:t>‹#›</a:t>
            </a:fld>
            <a:endParaRPr lang="en-US" noProof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B55B0F1-C1EF-3790-A994-C8C4BB61CCB9}"/>
              </a:ext>
            </a:extLst>
          </p:cNvPr>
          <p:cNvCxnSpPr>
            <a:cxnSpLocks/>
          </p:cNvCxnSpPr>
          <p:nvPr/>
        </p:nvCxnSpPr>
        <p:spPr>
          <a:xfrm>
            <a:off x="4351128" y="6532618"/>
            <a:ext cx="36930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D4F275B-2CE9-CD3C-081E-0B79C125257E}"/>
              </a:ext>
            </a:extLst>
          </p:cNvPr>
          <p:cNvCxnSpPr>
            <a:cxnSpLocks/>
          </p:cNvCxnSpPr>
          <p:nvPr/>
        </p:nvCxnSpPr>
        <p:spPr>
          <a:xfrm>
            <a:off x="8467344" y="6527001"/>
            <a:ext cx="3724656" cy="561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72312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327;p33">
            <a:extLst>
              <a:ext uri="{FF2B5EF4-FFF2-40B4-BE49-F238E27FC236}">
                <a16:creationId xmlns:a16="http://schemas.microsoft.com/office/drawing/2014/main" id="{E09AA4F6-9CBF-53A8-8FE8-0BAB0E7DC989}"/>
              </a:ext>
            </a:extLst>
          </p:cNvPr>
          <p:cNvSpPr/>
          <p:nvPr userDrawn="1"/>
        </p:nvSpPr>
        <p:spPr>
          <a:xfrm>
            <a:off x="1062566" y="1161412"/>
            <a:ext cx="10221119" cy="4831742"/>
          </a:xfrm>
          <a:prstGeom prst="rect">
            <a:avLst/>
          </a:prstGeom>
          <a:solidFill>
            <a:schemeClr val="accent4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10" name="Google Shape;328;p33">
            <a:extLst>
              <a:ext uri="{FF2B5EF4-FFF2-40B4-BE49-F238E27FC236}">
                <a16:creationId xmlns:a16="http://schemas.microsoft.com/office/drawing/2014/main" id="{CBE4E0BD-29C0-46EA-4A2D-401DD12AEC12}"/>
              </a:ext>
            </a:extLst>
          </p:cNvPr>
          <p:cNvSpPr/>
          <p:nvPr userDrawn="1"/>
        </p:nvSpPr>
        <p:spPr>
          <a:xfrm>
            <a:off x="858371" y="800100"/>
            <a:ext cx="10221119" cy="4953001"/>
          </a:xfrm>
          <a:prstGeom prst="rect">
            <a:avLst/>
          </a:prstGeom>
          <a:solidFill>
            <a:schemeClr val="accent5"/>
          </a:solidFill>
          <a:ln w="254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US" sz="1800" b="0" i="0" u="none" strike="noStrike" cap="none" noProof="0">
              <a:solidFill>
                <a:schemeClr val="lt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7EDEC9-86BE-FDB1-3BAE-F5FF0934CA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7048" y="1901952"/>
            <a:ext cx="4873752" cy="1709928"/>
          </a:xfrm>
        </p:spPr>
        <p:txBody>
          <a:bodyPr anchor="t">
            <a:noAutofit/>
          </a:bodyPr>
          <a:lstStyle>
            <a:lvl1pPr marL="0" indent="0" algn="l">
              <a:lnSpc>
                <a:spcPct val="90000"/>
              </a:lnSpc>
              <a:defRPr sz="600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EF6069-AEE4-3455-508E-4B9EE30F0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7048" y="3108960"/>
            <a:ext cx="3913632" cy="188366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1000"/>
              </a:spcBef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BEF410E3-CEC7-640A-C8FD-08419E6C330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443482" y="812292"/>
            <a:ext cx="4636008" cy="4928616"/>
          </a:xfr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 algn="ctr">
              <a:buNone/>
              <a:defRPr lang="en-US" sz="1800">
                <a:solidFill>
                  <a:schemeClr val="tx1"/>
                </a:solidFill>
              </a:defRPr>
            </a:lvl1pPr>
          </a:lstStyle>
          <a:p>
            <a:pPr marL="0" lvl="0" algn="ctr"/>
            <a:r>
              <a:rPr lang="en-US" noProof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02356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FFABFF-AED1-441E-410D-E91E5B9EA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1D9EB3-189A-FE0F-8C95-73C33781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680446-577A-69FB-646E-AF1DA4134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0E09C2-379A-DC94-A05D-1A629B341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415434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72A2AC-7ED9-922C-AFA3-C7474D93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noProof="0" smtClean="0"/>
              <a:t>‹#›</a:t>
            </a:fld>
            <a:endParaRPr lang="en-US" noProof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0D73C7A-2028-226F-C1ED-1807BD3B9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25B8F9-3C91-FD08-87E3-6E39B35BC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20XX</a:t>
            </a:r>
          </a:p>
        </p:txBody>
      </p:sp>
    </p:spTree>
    <p:extLst>
      <p:ext uri="{BB962C8B-B14F-4D97-AF65-F5344CB8AC3E}">
        <p14:creationId xmlns:p14="http://schemas.microsoft.com/office/powerpoint/2010/main" val="3916245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94A45C-8F79-9A61-77E8-09BC4E628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101498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646656E-6C21-DB29-00F0-0CC844DE37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7742D6-DB37-81C8-6BDD-5C9150A7DF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29145" y="6400904"/>
            <a:ext cx="64008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94DB44-E775-B332-D1F0-40DB3A5FA3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64480" y="6400904"/>
            <a:ext cx="146304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9C1C4E-47DA-0CDC-75C8-42E9F1EBDE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400904"/>
            <a:ext cx="365760" cy="246888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>
            <a:lvl1pPr algn="ctr">
              <a:defRPr sz="1000">
                <a:solidFill>
                  <a:schemeClr val="tx1"/>
                </a:solidFill>
                <a:latin typeface="+mj-lt"/>
              </a:defRPr>
            </a:lvl1pPr>
          </a:lstStyle>
          <a:p>
            <a:fld id="{8D0AFDD5-844D-364D-8AEC-50CF4D36D55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DE05079-2B34-E435-A882-A172DE176AE1}"/>
              </a:ext>
            </a:extLst>
          </p:cNvPr>
          <p:cNvCxnSpPr>
            <a:cxnSpLocks/>
          </p:cNvCxnSpPr>
          <p:nvPr userDrawn="1"/>
        </p:nvCxnSpPr>
        <p:spPr>
          <a:xfrm>
            <a:off x="0" y="6535885"/>
            <a:ext cx="8382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8440547-EE65-F9CE-1D02-2D326735F06D}"/>
              </a:ext>
            </a:extLst>
          </p:cNvPr>
          <p:cNvCxnSpPr>
            <a:cxnSpLocks/>
          </p:cNvCxnSpPr>
          <p:nvPr userDrawn="1"/>
        </p:nvCxnSpPr>
        <p:spPr>
          <a:xfrm>
            <a:off x="1205025" y="6535885"/>
            <a:ext cx="416052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DB9DC65-7A98-9009-CD43-4A4B57960D46}"/>
              </a:ext>
            </a:extLst>
          </p:cNvPr>
          <p:cNvCxnSpPr>
            <a:cxnSpLocks/>
          </p:cNvCxnSpPr>
          <p:nvPr userDrawn="1"/>
        </p:nvCxnSpPr>
        <p:spPr>
          <a:xfrm>
            <a:off x="6802120" y="6528812"/>
            <a:ext cx="384048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653D1C-9830-A9D3-084A-35BD971D10F5}"/>
              </a:ext>
            </a:extLst>
          </p:cNvPr>
          <p:cNvCxnSpPr>
            <a:cxnSpLocks/>
          </p:cNvCxnSpPr>
          <p:nvPr userDrawn="1"/>
        </p:nvCxnSpPr>
        <p:spPr>
          <a:xfrm>
            <a:off x="11276341" y="6528816"/>
            <a:ext cx="91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4252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9" r:id="rId2"/>
    <p:sldLayoutId id="2147483660" r:id="rId3"/>
    <p:sldLayoutId id="2147483651" r:id="rId4"/>
    <p:sldLayoutId id="2147483658" r:id="rId5"/>
    <p:sldLayoutId id="2147483661" r:id="rId6"/>
    <p:sldLayoutId id="2147483663" r:id="rId7"/>
    <p:sldLayoutId id="2147483664" r:id="rId8"/>
    <p:sldLayoutId id="2147483668" r:id="rId9"/>
    <p:sldLayoutId id="2147483662" r:id="rId10"/>
    <p:sldLayoutId id="2147483653" r:id="rId11"/>
    <p:sldLayoutId id="2147483669" r:id="rId12"/>
    <p:sldLayoutId id="2147483665" r:id="rId13"/>
    <p:sldLayoutId id="2147483666" r:id="rId14"/>
    <p:sldLayoutId id="2147483667" r:id="rId15"/>
    <p:sldLayoutId id="2147483654" r:id="rId16"/>
    <p:sldLayoutId id="2147483655" r:id="rId17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6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drvasiradulescu.ro/2021/12/15/molecula-mama-a-tuturor-energiilor-noastre/" TargetMode="External"/><Relationship Id="rId2" Type="http://schemas.openxmlformats.org/officeDocument/2006/relationships/hyperlink" Target="https://courses.lumenlearning.com/suny-orgbiochemistry/chapter/20-1-atp-the-universal-energy-currency/" TargetMode="External"/><Relationship Id="rId1" Type="http://schemas.openxmlformats.org/officeDocument/2006/relationships/slideLayout" Target="../slideLayouts/slideLayout15.xml"/><Relationship Id="rId4" Type="http://schemas.openxmlformats.org/officeDocument/2006/relationships/hyperlink" Target="https://ro.wikipedia.org/wiki/Adenozin_trifosfa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A4F37AB6-4681-D744-2F89-2949D08676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3040" y="1345223"/>
            <a:ext cx="5052060" cy="2604985"/>
          </a:xfrm>
        </p:spPr>
        <p:txBody>
          <a:bodyPr/>
          <a:lstStyle/>
          <a:p>
            <a:r>
              <a:rPr lang="en-US" b="1" dirty="0"/>
              <a:t>Energia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sistemele</a:t>
            </a:r>
            <a:r>
              <a:rPr lang="en-US" b="1" dirty="0"/>
              <a:t> </a:t>
            </a:r>
            <a:r>
              <a:rPr lang="en-US" b="1" dirty="0" err="1"/>
              <a:t>biologice</a:t>
            </a:r>
            <a:endParaRPr lang="en-US" b="1" dirty="0"/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06930851-3EE7-5B25-F590-CCB7467A20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3040" y="4014215"/>
            <a:ext cx="4873752" cy="927061"/>
          </a:xfrm>
        </p:spPr>
        <p:txBody>
          <a:bodyPr/>
          <a:lstStyle/>
          <a:p>
            <a:r>
              <a:rPr lang="en-US" dirty="0"/>
              <a:t>Suciu Ilban George</a:t>
            </a:r>
          </a:p>
          <a:p>
            <a:r>
              <a:rPr lang="en-US" dirty="0" err="1"/>
              <a:t>Clasa</a:t>
            </a:r>
            <a:r>
              <a:rPr lang="en-US" dirty="0"/>
              <a:t> a XII –a E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0607868-501C-0FEF-A188-1187442629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3918" y="1236588"/>
            <a:ext cx="3875042" cy="388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023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B3421-27E8-64F7-C72E-A20B3B5BF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Cuprins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CC227-AEF6-4194-577B-C14BE9F08F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A1DEE7-E7EE-60E4-4393-4B4043EFAC7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7E0F31-9524-2A85-6CB5-22AF4974A1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9D4236D-E11C-38FC-772B-CE890360026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FC2164E-29EB-0A75-9DCC-C2F08040A58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646800" y="2441448"/>
            <a:ext cx="1622425" cy="1622425"/>
          </a:xfrm>
        </p:spPr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6974E3C-F63F-9F93-EE35-CD5E465CD0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05906" y="4285984"/>
            <a:ext cx="1947672" cy="630936"/>
          </a:xfrm>
        </p:spPr>
        <p:txBody>
          <a:bodyPr/>
          <a:lstStyle/>
          <a:p>
            <a:r>
              <a:rPr lang="en-US" sz="1800" dirty="0" err="1"/>
              <a:t>Fundamentul</a:t>
            </a:r>
            <a:r>
              <a:rPr lang="en-US" sz="1800" dirty="0"/>
              <a:t> energetic al </a:t>
            </a:r>
            <a:r>
              <a:rPr lang="en-US" sz="1800" dirty="0" err="1"/>
              <a:t>vieții</a:t>
            </a:r>
            <a:endParaRPr lang="en-US" sz="18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2D95C9-142A-BF9A-3602-F4AB116081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s-ES" sz="1800" dirty="0"/>
              <a:t>ATP</a:t>
            </a:r>
            <a:endParaRPr lang="en-US" sz="180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D2F5204-1928-06AD-9878-6DD27D5DF27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sz="1800" dirty="0" err="1"/>
              <a:t>Metabolismul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4977FAA-28B8-34BB-09CE-CCE6C8C73D6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161353" y="4319944"/>
            <a:ext cx="2186150" cy="630936"/>
          </a:xfrm>
        </p:spPr>
        <p:txBody>
          <a:bodyPr/>
          <a:lstStyle/>
          <a:p>
            <a:r>
              <a:rPr lang="ro-RO" sz="1800" dirty="0"/>
              <a:t>Principiile termochimice</a:t>
            </a:r>
            <a:endParaRPr lang="en-US" sz="18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9D1FB0-0B3C-DCCA-CB4F-4FEAE1317B8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540392" y="4319944"/>
            <a:ext cx="1845702" cy="630936"/>
          </a:xfrm>
        </p:spPr>
        <p:txBody>
          <a:bodyPr/>
          <a:lstStyle/>
          <a:p>
            <a:r>
              <a:rPr lang="ro-RO" sz="1800" dirty="0"/>
              <a:t>Concluzii</a:t>
            </a:r>
            <a:endParaRPr lang="en-US" sz="1800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9EB92BE4-4ECF-AA5A-EBFA-AC2DBA935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1978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65BC0F7-9BAB-2ADE-CF39-130472620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84687"/>
            <a:ext cx="6804543" cy="971374"/>
          </a:xfrm>
        </p:spPr>
        <p:txBody>
          <a:bodyPr/>
          <a:lstStyle/>
          <a:p>
            <a:r>
              <a:rPr lang="en-US" sz="3200" dirty="0" err="1"/>
              <a:t>Fundamentul</a:t>
            </a:r>
            <a:r>
              <a:rPr lang="en-US" sz="3200" dirty="0"/>
              <a:t> energetic al </a:t>
            </a:r>
            <a:r>
              <a:rPr lang="en-US" sz="3200" dirty="0" err="1"/>
              <a:t>vieții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F72EA7-7448-EA7A-DE1C-33CD1331CD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4587" y="1797800"/>
            <a:ext cx="6423542" cy="3846862"/>
          </a:xfrm>
        </p:spPr>
        <p:txBody>
          <a:bodyPr/>
          <a:lstStyle/>
          <a:p>
            <a:r>
              <a:rPr lang="en-US" dirty="0" err="1"/>
              <a:t>Toate</a:t>
            </a:r>
            <a:r>
              <a:rPr lang="en-US" dirty="0"/>
              <a:t> </a:t>
            </a:r>
            <a:r>
              <a:rPr lang="en-US" dirty="0" err="1"/>
              <a:t>procesele</a:t>
            </a:r>
            <a:r>
              <a:rPr lang="en-US" dirty="0"/>
              <a:t> care </a:t>
            </a:r>
            <a:r>
              <a:rPr lang="en-US" dirty="0" err="1"/>
              <a:t>definesc</a:t>
            </a:r>
            <a:r>
              <a:rPr lang="en-US" dirty="0"/>
              <a:t> </a:t>
            </a:r>
            <a:r>
              <a:rPr lang="en-US" dirty="0" err="1"/>
              <a:t>viața</a:t>
            </a:r>
            <a:r>
              <a:rPr lang="en-US" dirty="0"/>
              <a:t>, de la </a:t>
            </a:r>
            <a:r>
              <a:rPr lang="en-US" dirty="0" err="1"/>
              <a:t>sinteza</a:t>
            </a:r>
            <a:r>
              <a:rPr lang="en-US" dirty="0"/>
              <a:t> de </a:t>
            </a:r>
            <a:r>
              <a:rPr lang="en-US" dirty="0" err="1"/>
              <a:t>noi</a:t>
            </a:r>
            <a:r>
              <a:rPr lang="en-US" dirty="0"/>
              <a:t> molecule la </a:t>
            </a:r>
            <a:r>
              <a:rPr lang="en-US" dirty="0" err="1"/>
              <a:t>menținerea</a:t>
            </a:r>
            <a:r>
              <a:rPr lang="en-US" dirty="0"/>
              <a:t> </a:t>
            </a:r>
            <a:r>
              <a:rPr lang="en-US" dirty="0" err="1"/>
              <a:t>homeostaziei</a:t>
            </a:r>
            <a:r>
              <a:rPr lang="en-US" dirty="0"/>
              <a:t>, </a:t>
            </a:r>
            <a:r>
              <a:rPr lang="en-US" dirty="0" err="1"/>
              <a:t>depind</a:t>
            </a:r>
            <a:r>
              <a:rPr lang="en-US" dirty="0"/>
              <a:t> fundamental de un flux constant de </a:t>
            </a:r>
            <a:r>
              <a:rPr lang="en-US" dirty="0" err="1"/>
              <a:t>energie</a:t>
            </a:r>
            <a:r>
              <a:rPr lang="en-US" dirty="0"/>
              <a:t>. </a:t>
            </a:r>
            <a:r>
              <a:rPr lang="en-US" dirty="0" err="1"/>
              <a:t>Organismele</a:t>
            </a:r>
            <a:r>
              <a:rPr lang="en-US" dirty="0"/>
              <a:t> vii </a:t>
            </a:r>
            <a:r>
              <a:rPr lang="en-US" dirty="0" err="1"/>
              <a:t>funcționează</a:t>
            </a:r>
            <a:r>
              <a:rPr lang="en-US" dirty="0"/>
              <a:t> ca </a:t>
            </a:r>
            <a:r>
              <a:rPr lang="en-US" b="1" dirty="0" err="1"/>
              <a:t>sisteme</a:t>
            </a:r>
            <a:r>
              <a:rPr lang="en-US" b="1" dirty="0"/>
              <a:t> </a:t>
            </a:r>
            <a:r>
              <a:rPr lang="en-US" b="1" dirty="0" err="1"/>
              <a:t>deschise</a:t>
            </a:r>
            <a:r>
              <a:rPr lang="en-US" dirty="0"/>
              <a:t>, </a:t>
            </a:r>
            <a:r>
              <a:rPr lang="en-US" dirty="0" err="1"/>
              <a:t>transformând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obținută</a:t>
            </a:r>
            <a:r>
              <a:rPr lang="en-US" dirty="0"/>
              <a:t> din </a:t>
            </a:r>
            <a:r>
              <a:rPr lang="en-US" dirty="0" err="1"/>
              <a:t>surse</a:t>
            </a:r>
            <a:r>
              <a:rPr lang="en-US" dirty="0"/>
              <a:t> externe, precum </a:t>
            </a:r>
            <a:r>
              <a:rPr lang="en-US" dirty="0" err="1"/>
              <a:t>alimentele</a:t>
            </a:r>
            <a:r>
              <a:rPr lang="en-US" dirty="0"/>
              <a:t>, </a:t>
            </a:r>
            <a:r>
              <a:rPr lang="en-US" dirty="0" err="1"/>
              <a:t>într</a:t>
            </a:r>
            <a:r>
              <a:rPr lang="en-US" dirty="0"/>
              <a:t>-un "</a:t>
            </a:r>
            <a:r>
              <a:rPr lang="en-US" b="1" dirty="0" err="1"/>
              <a:t>combustibil</a:t>
            </a:r>
            <a:r>
              <a:rPr lang="en-US" dirty="0"/>
              <a:t>" </a:t>
            </a:r>
            <a:r>
              <a:rPr lang="en-US" dirty="0" err="1"/>
              <a:t>celular</a:t>
            </a:r>
            <a:r>
              <a:rPr lang="en-US" dirty="0"/>
              <a:t> universal</a:t>
            </a:r>
          </a:p>
          <a:p>
            <a:endParaRPr lang="en-US" dirty="0"/>
          </a:p>
          <a:p>
            <a:r>
              <a:rPr lang="en-US" b="1" dirty="0" err="1"/>
              <a:t>Analogie</a:t>
            </a:r>
            <a:r>
              <a:rPr lang="en-US" b="1" dirty="0"/>
              <a:t>:</a:t>
            </a:r>
            <a:r>
              <a:rPr lang="en-US" dirty="0"/>
              <a:t> </a:t>
            </a:r>
            <a:r>
              <a:rPr lang="en-US" dirty="0" err="1"/>
              <a:t>Organismul</a:t>
            </a:r>
            <a:r>
              <a:rPr lang="en-US" dirty="0"/>
              <a:t> </a:t>
            </a:r>
            <a:r>
              <a:rPr lang="en-US" dirty="0" err="1"/>
              <a:t>viu</a:t>
            </a:r>
            <a:r>
              <a:rPr lang="en-US" dirty="0"/>
              <a:t> </a:t>
            </a:r>
            <a:r>
              <a:rPr lang="en-US" dirty="0" err="1"/>
              <a:t>funcționează</a:t>
            </a:r>
            <a:r>
              <a:rPr lang="en-US" dirty="0"/>
              <a:t> precum un </a:t>
            </a:r>
            <a:r>
              <a:rPr lang="en-US" b="1" dirty="0" err="1"/>
              <a:t>oraș</a:t>
            </a:r>
            <a:r>
              <a:rPr lang="en-US" b="1" dirty="0"/>
              <a:t> metropolitan</a:t>
            </a:r>
            <a:r>
              <a:rPr lang="en-US" dirty="0"/>
              <a:t>:</a:t>
            </a:r>
          </a:p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alimentează</a:t>
            </a:r>
            <a:r>
              <a:rPr lang="en-US" dirty="0"/>
              <a:t> </a:t>
            </a:r>
            <a:r>
              <a:rPr lang="en-US" dirty="0" err="1"/>
              <a:t>procesele</a:t>
            </a:r>
            <a:r>
              <a:rPr lang="en-US" dirty="0"/>
              <a:t> </a:t>
            </a:r>
            <a:r>
              <a:rPr lang="en-US" dirty="0" err="1"/>
              <a:t>vitale</a:t>
            </a:r>
            <a:endParaRPr lang="en-US" dirty="0"/>
          </a:p>
          <a:p>
            <a:pPr marL="340614" indent="-285750">
              <a:buFont typeface="Arial" panose="020B0604020202020204" pitchFamily="34" charset="0"/>
              <a:buChar char="•"/>
            </a:pPr>
            <a:r>
              <a:rPr lang="en-US" dirty="0" err="1"/>
              <a:t>fiecare</a:t>
            </a:r>
            <a:r>
              <a:rPr lang="en-US" dirty="0"/>
              <a:t> </a:t>
            </a:r>
            <a:r>
              <a:rPr lang="en-US" dirty="0" err="1"/>
              <a:t>celulă</a:t>
            </a:r>
            <a:r>
              <a:rPr lang="en-US" dirty="0"/>
              <a:t> </a:t>
            </a:r>
            <a:r>
              <a:rPr lang="en-US" dirty="0" err="1"/>
              <a:t>desfășoară</a:t>
            </a:r>
            <a:r>
              <a:rPr lang="en-US" dirty="0"/>
              <a:t> </a:t>
            </a:r>
            <a:r>
              <a:rPr lang="en-US" dirty="0" err="1"/>
              <a:t>milioane</a:t>
            </a:r>
            <a:r>
              <a:rPr lang="en-US" dirty="0"/>
              <a:t> de </a:t>
            </a:r>
            <a:r>
              <a:rPr lang="en-US" dirty="0" err="1"/>
              <a:t>reacții</a:t>
            </a:r>
            <a:r>
              <a:rPr lang="en-US" dirty="0"/>
              <a:t> </a:t>
            </a:r>
            <a:r>
              <a:rPr lang="en-US" dirty="0" err="1"/>
              <a:t>simultan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gestiona</a:t>
            </a:r>
            <a:r>
              <a:rPr lang="en-US" dirty="0"/>
              <a:t> </a:t>
            </a:r>
            <a:r>
              <a:rPr lang="en-US" dirty="0" err="1"/>
              <a:t>eficient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b="1" dirty="0"/>
              <a:t>flux energetic complex</a:t>
            </a:r>
            <a:r>
              <a:rPr lang="en-US" dirty="0"/>
              <a:t>, natura a </a:t>
            </a:r>
            <a:r>
              <a:rPr lang="en-US" dirty="0" err="1"/>
              <a:t>perfecționat</a:t>
            </a:r>
            <a:r>
              <a:rPr lang="en-US" dirty="0"/>
              <a:t> o </a:t>
            </a:r>
            <a:r>
              <a:rPr lang="en-US" dirty="0" err="1"/>
              <a:t>soluție</a:t>
            </a:r>
            <a:r>
              <a:rPr lang="en-US" dirty="0"/>
              <a:t> </a:t>
            </a:r>
            <a:r>
              <a:rPr lang="en-US" dirty="0" err="1"/>
              <a:t>elegantă</a:t>
            </a:r>
            <a:r>
              <a:rPr lang="en-US" dirty="0"/>
              <a:t>: o </a:t>
            </a:r>
            <a:r>
              <a:rPr lang="en-US" b="1" dirty="0" err="1"/>
              <a:t>moleculă</a:t>
            </a:r>
            <a:r>
              <a:rPr lang="en-US" b="1" dirty="0"/>
              <a:t> special (ATP)</a:t>
            </a:r>
            <a:r>
              <a:rPr lang="en-US" dirty="0"/>
              <a:t>, </a:t>
            </a:r>
            <a:r>
              <a:rPr lang="en-US" b="1" dirty="0" err="1"/>
              <a:t>universală</a:t>
            </a:r>
            <a:r>
              <a:rPr lang="en-US" dirty="0"/>
              <a:t>, care </a:t>
            </a:r>
            <a:r>
              <a:rPr lang="en-US" dirty="0" err="1"/>
              <a:t>funcționează</a:t>
            </a:r>
            <a:r>
              <a:rPr lang="en-US" dirty="0"/>
              <a:t> ca </a:t>
            </a:r>
            <a:r>
              <a:rPr lang="en-US" b="1" dirty="0" err="1"/>
              <a:t>moneda</a:t>
            </a:r>
            <a:r>
              <a:rPr lang="en-US" b="1" dirty="0"/>
              <a:t> de </a:t>
            </a:r>
            <a:r>
              <a:rPr lang="en-US" b="1" dirty="0" err="1"/>
              <a:t>schimb</a:t>
            </a:r>
            <a:r>
              <a:rPr lang="en-US" b="1" dirty="0"/>
              <a:t> </a:t>
            </a:r>
            <a:r>
              <a:rPr lang="en-US" b="1" dirty="0" err="1"/>
              <a:t>în</a:t>
            </a:r>
            <a:r>
              <a:rPr lang="en-US" b="1" dirty="0"/>
              <a:t> </a:t>
            </a:r>
            <a:r>
              <a:rPr lang="en-US" b="1" dirty="0" err="1"/>
              <a:t>economia</a:t>
            </a:r>
            <a:r>
              <a:rPr lang="en-US" b="1" dirty="0"/>
              <a:t> </a:t>
            </a:r>
            <a:r>
              <a:rPr lang="en-US" b="1" dirty="0" err="1"/>
              <a:t>celulară</a:t>
            </a:r>
            <a:r>
              <a:rPr lang="en-US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25C49-A1AB-D377-2071-D29B1E667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BA43EA4-6BB6-C1B7-7019-CCF0BD51D2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7484" y="826479"/>
            <a:ext cx="4132876" cy="269044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885F385-C233-E17F-346C-FA7AD04F30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7484" y="4026784"/>
            <a:ext cx="4132876" cy="200473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ADA835F-CCBB-3900-3639-62C0679CA927}"/>
              </a:ext>
            </a:extLst>
          </p:cNvPr>
          <p:cNvSpPr txBox="1"/>
          <p:nvPr/>
        </p:nvSpPr>
        <p:spPr>
          <a:xfrm>
            <a:off x="7917484" y="3516925"/>
            <a:ext cx="4132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Clorofila</a:t>
            </a:r>
            <a:r>
              <a:rPr lang="en-US" sz="1400" dirty="0">
                <a:solidFill>
                  <a:schemeClr val="bg1"/>
                </a:solidFill>
              </a:rPr>
              <a:t> A – </a:t>
            </a:r>
            <a:r>
              <a:rPr lang="en-US" sz="1400" dirty="0" err="1">
                <a:solidFill>
                  <a:schemeClr val="bg1"/>
                </a:solidFill>
              </a:rPr>
              <a:t>folosit</a:t>
            </a:r>
            <a:r>
              <a:rPr lang="ro-RO" sz="1400" dirty="0">
                <a:solidFill>
                  <a:schemeClr val="bg1"/>
                </a:solidFill>
              </a:rPr>
              <a:t>ă în fotosinteza </a:t>
            </a:r>
            <a:r>
              <a:rPr lang="ro-RO" sz="1400" dirty="0" err="1">
                <a:solidFill>
                  <a:schemeClr val="bg1"/>
                </a:solidFill>
              </a:rPr>
              <a:t>oxigenică</a:t>
            </a:r>
            <a:r>
              <a:rPr lang="ro-RO" sz="1400" dirty="0">
                <a:solidFill>
                  <a:schemeClr val="bg1"/>
                </a:solidFill>
              </a:rPr>
              <a:t> (esențială pentru producerea  de energie la plante)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842AC7-7493-711D-BC78-37FA08A3C686}"/>
              </a:ext>
            </a:extLst>
          </p:cNvPr>
          <p:cNvSpPr txBox="1"/>
          <p:nvPr/>
        </p:nvSpPr>
        <p:spPr>
          <a:xfrm>
            <a:off x="7917484" y="6051190"/>
            <a:ext cx="4132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Adenozintrifosfatul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este</a:t>
            </a:r>
            <a:r>
              <a:rPr lang="en-US" sz="1400" dirty="0">
                <a:solidFill>
                  <a:schemeClr val="bg1"/>
                </a:solidFill>
              </a:rPr>
              <a:t> o </a:t>
            </a:r>
            <a:r>
              <a:rPr lang="en-US" sz="1400" dirty="0" err="1">
                <a:solidFill>
                  <a:schemeClr val="bg1"/>
                </a:solidFill>
              </a:rPr>
              <a:t>nucleozidă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trifosforilată</a:t>
            </a:r>
            <a:r>
              <a:rPr lang="ro-RO" sz="1400" dirty="0">
                <a:solidFill>
                  <a:schemeClr val="bg1"/>
                </a:solidFill>
              </a:rPr>
              <a:t> – acumulatoare de energie </a:t>
            </a:r>
          </a:p>
        </p:txBody>
      </p:sp>
    </p:spTree>
    <p:extLst>
      <p:ext uri="{BB962C8B-B14F-4D97-AF65-F5344CB8AC3E}">
        <p14:creationId xmlns:p14="http://schemas.microsoft.com/office/powerpoint/2010/main" val="37800028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80EFF-AC12-4F02-9235-908D97AC28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9E90E4-EFBD-5FCC-234B-46696A1292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087" y="984687"/>
            <a:ext cx="6804543" cy="597928"/>
          </a:xfrm>
        </p:spPr>
        <p:txBody>
          <a:bodyPr/>
          <a:lstStyle/>
          <a:p>
            <a:r>
              <a:rPr lang="en-US" sz="3200" dirty="0" err="1"/>
              <a:t>Fotosinteza</a:t>
            </a:r>
            <a:endParaRPr lang="en-US" sz="3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6CEF98-BF62-52B2-237D-94AB9DA72C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086" y="1797800"/>
            <a:ext cx="6804543" cy="3846862"/>
          </a:xfrm>
        </p:spPr>
        <p:txBody>
          <a:bodyPr/>
          <a:lstStyle/>
          <a:p>
            <a:r>
              <a:rPr lang="en-US" dirty="0" err="1"/>
              <a:t>Fotosinteza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procesul</a:t>
            </a:r>
            <a:r>
              <a:rPr lang="en-US" dirty="0"/>
              <a:t> biologic </a:t>
            </a:r>
            <a:r>
              <a:rPr lang="en-US" dirty="0" err="1"/>
              <a:t>esențial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organismele</a:t>
            </a:r>
            <a:r>
              <a:rPr lang="en-US" dirty="0"/>
              <a:t> </a:t>
            </a:r>
            <a:r>
              <a:rPr lang="en-US" dirty="0" err="1"/>
              <a:t>fotosintetizatoare</a:t>
            </a:r>
            <a:r>
              <a:rPr lang="en-US" dirty="0"/>
              <a:t>, precum </a:t>
            </a:r>
            <a:r>
              <a:rPr lang="en-US" dirty="0" err="1"/>
              <a:t>plantele</a:t>
            </a:r>
            <a:r>
              <a:rPr lang="en-US" dirty="0"/>
              <a:t>, </a:t>
            </a:r>
            <a:r>
              <a:rPr lang="en-US" dirty="0" err="1"/>
              <a:t>convertesc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luminoasă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energie</a:t>
            </a:r>
            <a:r>
              <a:rPr lang="en-US" dirty="0"/>
              <a:t> </a:t>
            </a:r>
            <a:r>
              <a:rPr lang="en-US" dirty="0" err="1"/>
              <a:t>chimică</a:t>
            </a:r>
            <a:r>
              <a:rPr lang="en-US" dirty="0"/>
              <a:t>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endoterm</a:t>
            </a:r>
            <a:r>
              <a:rPr lang="en-US" dirty="0"/>
              <a:t> </a:t>
            </a:r>
            <a:r>
              <a:rPr lang="en-US" dirty="0" err="1"/>
              <a:t>stă</a:t>
            </a:r>
            <a:r>
              <a:rPr lang="en-US" dirty="0"/>
              <a:t> la </a:t>
            </a:r>
            <a:r>
              <a:rPr lang="en-US" dirty="0" err="1"/>
              <a:t>baza</a:t>
            </a:r>
            <a:r>
              <a:rPr lang="en-US" dirty="0"/>
              <a:t> </a:t>
            </a:r>
            <a:r>
              <a:rPr lang="en-US" dirty="0" err="1"/>
              <a:t>majorității</a:t>
            </a:r>
            <a:r>
              <a:rPr lang="en-US" dirty="0"/>
              <a:t> </a:t>
            </a:r>
            <a:r>
              <a:rPr lang="en-US" dirty="0" err="1"/>
              <a:t>lanțurilor</a:t>
            </a:r>
            <a:r>
              <a:rPr lang="en-US" dirty="0"/>
              <a:t> </a:t>
            </a:r>
            <a:r>
              <a:rPr lang="en-US" dirty="0" err="1"/>
              <a:t>trofice</a:t>
            </a:r>
            <a:r>
              <a:rPr lang="en-US" dirty="0"/>
              <a:t> de pe </a:t>
            </a:r>
            <a:r>
              <a:rPr lang="ro-RO" dirty="0"/>
              <a:t>p</a:t>
            </a:r>
            <a:r>
              <a:rPr lang="en-US" dirty="0" err="1"/>
              <a:t>ământ</a:t>
            </a:r>
            <a:r>
              <a:rPr lang="en-US" dirty="0"/>
              <a:t>, </a:t>
            </a:r>
            <a:r>
              <a:rPr lang="en-US" dirty="0" err="1"/>
              <a:t>producând</a:t>
            </a:r>
            <a:r>
              <a:rPr lang="en-US" dirty="0"/>
              <a:t> </a:t>
            </a:r>
            <a:r>
              <a:rPr lang="en-US" dirty="0" err="1"/>
              <a:t>compușii</a:t>
            </a:r>
            <a:r>
              <a:rPr lang="en-US" dirty="0"/>
              <a:t> </a:t>
            </a:r>
            <a:r>
              <a:rPr lang="en-US" dirty="0" err="1"/>
              <a:t>organici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oxigenul</a:t>
            </a:r>
            <a:r>
              <a:rPr lang="en-US" dirty="0"/>
              <a:t> </a:t>
            </a:r>
            <a:r>
              <a:rPr lang="en-US" dirty="0" err="1"/>
              <a:t>necesare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supraviețuirea</a:t>
            </a:r>
            <a:r>
              <a:rPr lang="en-US" dirty="0"/>
              <a:t> </a:t>
            </a:r>
            <a:r>
              <a:rPr lang="en-US" dirty="0" err="1"/>
              <a:t>organismelor</a:t>
            </a:r>
            <a:r>
              <a:rPr lang="en-US" dirty="0"/>
              <a:t> </a:t>
            </a:r>
            <a:r>
              <a:rPr lang="en-US" dirty="0" err="1"/>
              <a:t>heterotrofe</a:t>
            </a:r>
            <a:r>
              <a:rPr lang="en-US" dirty="0"/>
              <a:t>.</a:t>
            </a:r>
          </a:p>
          <a:p>
            <a:r>
              <a:rPr lang="en-US" dirty="0" err="1"/>
              <a:t>Ecuația</a:t>
            </a:r>
            <a:r>
              <a:rPr lang="en-US" dirty="0"/>
              <a:t> </a:t>
            </a:r>
            <a:r>
              <a:rPr lang="en-US" dirty="0" err="1"/>
              <a:t>chimică</a:t>
            </a:r>
            <a:r>
              <a:rPr lang="en-US" dirty="0"/>
              <a:t> </a:t>
            </a:r>
            <a:r>
              <a:rPr lang="en-US" dirty="0" err="1"/>
              <a:t>globală</a:t>
            </a:r>
            <a:r>
              <a:rPr lang="en-US" dirty="0"/>
              <a:t> care </a:t>
            </a:r>
            <a:r>
              <a:rPr lang="en-US" dirty="0" err="1"/>
              <a:t>descrie</a:t>
            </a:r>
            <a:r>
              <a:rPr lang="en-US" dirty="0"/>
              <a:t>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proces</a:t>
            </a:r>
            <a:r>
              <a:rPr lang="en-US" dirty="0"/>
              <a:t> complex </a:t>
            </a:r>
            <a:r>
              <a:rPr lang="en-US" dirty="0" err="1"/>
              <a:t>este</a:t>
            </a:r>
            <a:r>
              <a:rPr lang="en-US" dirty="0"/>
              <a:t>:</a:t>
            </a:r>
          </a:p>
          <a:p>
            <a:r>
              <a:rPr lang="ro-RO" dirty="0"/>
              <a:t>	</a:t>
            </a:r>
            <a:r>
              <a:rPr lang="en-US" dirty="0"/>
              <a:t>6CO₂(g) + 6H₂O(l) ---(</a:t>
            </a:r>
            <a:r>
              <a:rPr lang="en-US" dirty="0" err="1"/>
              <a:t>lumină</a:t>
            </a:r>
            <a:r>
              <a:rPr lang="en-US" dirty="0"/>
              <a:t>, </a:t>
            </a:r>
            <a:r>
              <a:rPr lang="en-US" dirty="0" err="1"/>
              <a:t>clorofilă</a:t>
            </a:r>
            <a:r>
              <a:rPr lang="en-US" dirty="0"/>
              <a:t>, </a:t>
            </a:r>
            <a:r>
              <a:rPr lang="en-US" dirty="0" err="1"/>
              <a:t>enzime</a:t>
            </a:r>
            <a:r>
              <a:rPr lang="en-US" dirty="0"/>
              <a:t>)--&gt; C₆H₁₂O₆(s) + 6O₂(g)</a:t>
            </a:r>
          </a:p>
          <a:p>
            <a:endParaRPr lang="en-US" dirty="0"/>
          </a:p>
          <a:p>
            <a:r>
              <a:rPr lang="en-US" dirty="0" err="1"/>
              <a:t>Fiind</a:t>
            </a:r>
            <a:r>
              <a:rPr lang="en-US" dirty="0"/>
              <a:t> un </a:t>
            </a:r>
            <a:r>
              <a:rPr lang="en-US" dirty="0" err="1"/>
              <a:t>proces</a:t>
            </a:r>
            <a:r>
              <a:rPr lang="en-US" dirty="0"/>
              <a:t> </a:t>
            </a:r>
            <a:r>
              <a:rPr lang="en-US" dirty="0" err="1"/>
              <a:t>endoterm</a:t>
            </a:r>
            <a:r>
              <a:rPr lang="en-US" dirty="0"/>
              <a:t>, </a:t>
            </a:r>
            <a:r>
              <a:rPr lang="en-US" dirty="0" err="1"/>
              <a:t>fotosinteza</a:t>
            </a:r>
            <a:r>
              <a:rPr lang="en-US" dirty="0"/>
              <a:t> </a:t>
            </a:r>
            <a:r>
              <a:rPr lang="en-US" dirty="0" err="1"/>
              <a:t>necesită</a:t>
            </a:r>
            <a:r>
              <a:rPr lang="en-US" dirty="0"/>
              <a:t> un </a:t>
            </a:r>
            <a:r>
              <a:rPr lang="en-US" dirty="0" err="1"/>
              <a:t>aport</a:t>
            </a:r>
            <a:r>
              <a:rPr lang="en-US" dirty="0"/>
              <a:t> constant de </a:t>
            </a:r>
            <a:r>
              <a:rPr lang="en-US" dirty="0" err="1"/>
              <a:t>energie</a:t>
            </a:r>
            <a:r>
              <a:rPr lang="en-US" dirty="0"/>
              <a:t> din exterior. Specific,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sinteza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mol de </a:t>
            </a:r>
            <a:r>
              <a:rPr lang="en-US" dirty="0" err="1"/>
              <a:t>glucoză</a:t>
            </a:r>
            <a:r>
              <a:rPr lang="en-US" dirty="0"/>
              <a:t> (C₆H₁₂O₆) din </a:t>
            </a:r>
            <a:r>
              <a:rPr lang="en-US" dirty="0" err="1"/>
              <a:t>dioxid</a:t>
            </a:r>
            <a:r>
              <a:rPr lang="en-US" dirty="0"/>
              <a:t> de carbon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apă</a:t>
            </a:r>
            <a:r>
              <a:rPr lang="en-US" dirty="0"/>
              <a:t>, se </a:t>
            </a:r>
            <a:r>
              <a:rPr lang="en-US" dirty="0" err="1"/>
              <a:t>consumă</a:t>
            </a:r>
            <a:r>
              <a:rPr lang="en-US" dirty="0"/>
              <a:t> o </a:t>
            </a:r>
            <a:r>
              <a:rPr lang="en-US" dirty="0" err="1"/>
              <a:t>cantitate</a:t>
            </a:r>
            <a:r>
              <a:rPr lang="en-US" dirty="0"/>
              <a:t> de </a:t>
            </a:r>
            <a:r>
              <a:rPr lang="en-US" dirty="0" err="1"/>
              <a:t>energie</a:t>
            </a:r>
            <a:r>
              <a:rPr lang="en-US" dirty="0"/>
              <a:t> </a:t>
            </a:r>
            <a:r>
              <a:rPr lang="en-US" dirty="0" err="1"/>
              <a:t>echivalentă</a:t>
            </a:r>
            <a:r>
              <a:rPr lang="en-US" dirty="0"/>
              <a:t> cu </a:t>
            </a:r>
            <a:r>
              <a:rPr lang="en-US" b="1" dirty="0"/>
              <a:t>6 × 114 kcal</a:t>
            </a:r>
            <a:r>
              <a:rPr lang="en-US" dirty="0"/>
              <a:t>.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13266B-70E5-EDFA-67F9-9B5EC0154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9624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4B2286-9DEC-44F5-4631-D4084A4D8E55}"/>
              </a:ext>
            </a:extLst>
          </p:cNvPr>
          <p:cNvSpPr txBox="1"/>
          <p:nvPr/>
        </p:nvSpPr>
        <p:spPr>
          <a:xfrm>
            <a:off x="8040022" y="3544920"/>
            <a:ext cx="4132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>
                <a:solidFill>
                  <a:schemeClr val="bg1"/>
                </a:solidFill>
              </a:rPr>
              <a:t>Exemplificarea în detaliu a fotosintezei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816BEC-0601-45BA-7F03-BA05C5C14822}"/>
              </a:ext>
            </a:extLst>
          </p:cNvPr>
          <p:cNvSpPr txBox="1"/>
          <p:nvPr/>
        </p:nvSpPr>
        <p:spPr>
          <a:xfrm>
            <a:off x="7917484" y="6051190"/>
            <a:ext cx="41328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1400" dirty="0">
                <a:solidFill>
                  <a:schemeClr val="bg1"/>
                </a:solidFill>
              </a:rPr>
              <a:t>Simplificare a procesului de fotosinteză</a:t>
            </a:r>
          </a:p>
        </p:txBody>
      </p:sp>
      <p:pic>
        <p:nvPicPr>
          <p:cNvPr id="5122" name="Picture 2" descr="Fotosinteza">
            <a:extLst>
              <a:ext uri="{FF2B5EF4-FFF2-40B4-BE49-F238E27FC236}">
                <a16:creationId xmlns:a16="http://schemas.microsoft.com/office/drawing/2014/main" id="{DFA92635-CFEC-F86B-767C-8557141681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88065" y="4096136"/>
            <a:ext cx="2191714" cy="1899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Introducere în fotosinteză (articol) | Khan Academy">
            <a:extLst>
              <a:ext uri="{FF2B5EF4-FFF2-40B4-BE49-F238E27FC236}">
                <a16:creationId xmlns:a16="http://schemas.microsoft.com/office/drawing/2014/main" id="{95768F80-F4BA-6EBC-67B9-864F772F3A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0160" y="958360"/>
            <a:ext cx="3687523" cy="2470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422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DB732-6FD3-D0DA-92AF-1D7A68E3A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4400" dirty="0"/>
              <a:t>Etapele fotosintezei</a:t>
            </a:r>
            <a:endParaRPr lang="en-US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6D0EB4-87A1-9926-18A9-F1A65DC20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800" dirty="0"/>
              <a:t>Faza luminoasă (dependentă de lumină)</a:t>
            </a:r>
            <a:endParaRPr lang="en-US" sz="1800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77B26A88-F289-88EA-E384-570C7CF8B5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5152" y="2007884"/>
            <a:ext cx="6406896" cy="1424483"/>
          </a:xfrm>
        </p:spPr>
        <p:txBody>
          <a:bodyPr/>
          <a:lstStyle/>
          <a:p>
            <a:pPr marL="285750" indent="-285750"/>
            <a:r>
              <a:rPr lang="en-US" dirty="0" err="1"/>
              <a:t>Captarea</a:t>
            </a:r>
            <a:r>
              <a:rPr lang="en-US" dirty="0"/>
              <a:t> </a:t>
            </a:r>
            <a:r>
              <a:rPr lang="en-US" dirty="0" err="1"/>
              <a:t>energiei</a:t>
            </a:r>
            <a:r>
              <a:rPr lang="en-US" dirty="0"/>
              <a:t> </a:t>
            </a:r>
            <a:r>
              <a:rPr lang="en-US" dirty="0" err="1"/>
              <a:t>solare</a:t>
            </a:r>
            <a:r>
              <a:rPr lang="en-US" dirty="0"/>
              <a:t> de </a:t>
            </a:r>
            <a:r>
              <a:rPr lang="en-US" dirty="0" err="1"/>
              <a:t>către</a:t>
            </a:r>
            <a:r>
              <a:rPr lang="en-US" dirty="0"/>
              <a:t> </a:t>
            </a:r>
            <a:r>
              <a:rPr lang="en-US" dirty="0" err="1"/>
              <a:t>pigmenții</a:t>
            </a:r>
            <a:r>
              <a:rPr lang="en-US" dirty="0"/>
              <a:t> </a:t>
            </a:r>
            <a:r>
              <a:rPr lang="en-US" dirty="0" err="1"/>
              <a:t>clorofilieni</a:t>
            </a:r>
            <a:r>
              <a:rPr lang="ro-RO" dirty="0"/>
              <a:t>.</a:t>
            </a:r>
          </a:p>
          <a:p>
            <a:pPr marL="285750" indent="-285750"/>
            <a:r>
              <a:rPr lang="pt-BR" dirty="0"/>
              <a:t>Utilizarea acestei energii pentru </a:t>
            </a:r>
            <a:r>
              <a:rPr lang="pt-BR" b="1" dirty="0"/>
              <a:t>formarea de ATP</a:t>
            </a:r>
            <a:r>
              <a:rPr lang="ro-RO" b="1" dirty="0"/>
              <a:t>.</a:t>
            </a:r>
            <a:endParaRPr lang="ro-RO" dirty="0"/>
          </a:p>
          <a:p>
            <a:pPr marL="285750" indent="-285750"/>
            <a:r>
              <a:rPr lang="en-US" dirty="0" err="1"/>
              <a:t>Descompunerea</a:t>
            </a:r>
            <a:r>
              <a:rPr lang="en-US" dirty="0"/>
              <a:t> </a:t>
            </a:r>
            <a:r>
              <a:rPr lang="en-US" dirty="0" err="1"/>
              <a:t>moleculelor</a:t>
            </a:r>
            <a:r>
              <a:rPr lang="en-US" dirty="0"/>
              <a:t> de </a:t>
            </a:r>
            <a:r>
              <a:rPr lang="en-US" dirty="0" err="1"/>
              <a:t>apă</a:t>
            </a:r>
            <a:r>
              <a:rPr lang="en-US" dirty="0"/>
              <a:t> (</a:t>
            </a:r>
            <a:r>
              <a:rPr lang="en-US" dirty="0" err="1"/>
              <a:t>fotoliza</a:t>
            </a:r>
            <a:r>
              <a:rPr lang="en-US" dirty="0"/>
              <a:t> </a:t>
            </a:r>
            <a:r>
              <a:rPr lang="en-US" dirty="0" err="1"/>
              <a:t>apei</a:t>
            </a:r>
            <a:r>
              <a:rPr lang="en-US" dirty="0"/>
              <a:t>).</a:t>
            </a:r>
          </a:p>
          <a:p>
            <a:pPr marL="285750" indent="-285750"/>
            <a:r>
              <a:rPr lang="en-US" dirty="0" err="1"/>
              <a:t>Eliberarea</a:t>
            </a:r>
            <a:r>
              <a:rPr lang="en-US" dirty="0"/>
              <a:t> </a:t>
            </a:r>
            <a:r>
              <a:rPr lang="en-US" dirty="0" err="1"/>
              <a:t>oxigenului</a:t>
            </a:r>
            <a:r>
              <a:rPr lang="en-US" dirty="0"/>
              <a:t> ca </a:t>
            </a:r>
            <a:r>
              <a:rPr lang="en-US" dirty="0" err="1"/>
              <a:t>produs</a:t>
            </a:r>
            <a:r>
              <a:rPr lang="en-US" dirty="0"/>
              <a:t> </a:t>
            </a:r>
            <a:r>
              <a:rPr lang="en-US" dirty="0" err="1"/>
              <a:t>secundar</a:t>
            </a:r>
            <a:r>
              <a:rPr lang="en-US" dirty="0"/>
              <a:t>.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309F894-D6ED-3B69-812A-EDD9C07D6D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pt-BR" sz="1800" dirty="0"/>
              <a:t>Faza obscură (independentă direct de lumină)</a:t>
            </a:r>
            <a:endParaRPr lang="en-US" sz="1800" dirty="0"/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4A6AD7D6-3293-B4C1-4263-E02BE31B4FF8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/>
          <a:lstStyle/>
          <a:p>
            <a:pPr marL="285750" indent="-285750"/>
            <a:r>
              <a:rPr lang="pt-BR" b="1" dirty="0"/>
              <a:t>Sinteza zaharidelor</a:t>
            </a:r>
            <a:r>
              <a:rPr lang="pt-BR" dirty="0"/>
              <a:t> (cum ar fi glucoza)</a:t>
            </a:r>
            <a:r>
              <a:rPr lang="ro-RO" dirty="0"/>
              <a:t>.</a:t>
            </a:r>
          </a:p>
          <a:p>
            <a:pPr marL="285750" indent="-285750"/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dioxidului</a:t>
            </a:r>
            <a:r>
              <a:rPr lang="en-US" dirty="0"/>
              <a:t> de carbon (CO₂) din </a:t>
            </a:r>
            <a:r>
              <a:rPr lang="en-US" dirty="0" err="1"/>
              <a:t>atmosferă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a </a:t>
            </a:r>
            <a:r>
              <a:rPr lang="en-US" dirty="0" err="1"/>
              <a:t>hidrogenului</a:t>
            </a:r>
            <a:r>
              <a:rPr lang="en-US" dirty="0"/>
              <a:t> </a:t>
            </a:r>
            <a:r>
              <a:rPr lang="en-US" dirty="0" err="1"/>
              <a:t>provenit</a:t>
            </a:r>
            <a:r>
              <a:rPr lang="en-US" dirty="0"/>
              <a:t> din </a:t>
            </a:r>
            <a:r>
              <a:rPr lang="en-US" dirty="0" err="1"/>
              <a:t>descompunerea</a:t>
            </a:r>
            <a:r>
              <a:rPr lang="en-US" dirty="0"/>
              <a:t> </a:t>
            </a:r>
            <a:r>
              <a:rPr lang="en-US" dirty="0" err="1"/>
              <a:t>apei</a:t>
            </a:r>
            <a:r>
              <a:rPr lang="ro-RO" dirty="0"/>
              <a:t>.</a:t>
            </a:r>
          </a:p>
          <a:p>
            <a:pPr marL="285750" indent="-285750"/>
            <a:r>
              <a:rPr lang="en-US" dirty="0" err="1"/>
              <a:t>Utilizarea</a:t>
            </a:r>
            <a:r>
              <a:rPr lang="en-US" dirty="0"/>
              <a:t> </a:t>
            </a:r>
            <a:r>
              <a:rPr lang="en-US" dirty="0" err="1"/>
              <a:t>energiei</a:t>
            </a:r>
            <a:r>
              <a:rPr lang="en-US" dirty="0"/>
              <a:t> </a:t>
            </a:r>
            <a:r>
              <a:rPr lang="en-US" dirty="0" err="1"/>
              <a:t>stocate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moleculele</a:t>
            </a:r>
            <a:r>
              <a:rPr lang="en-US" dirty="0"/>
              <a:t> de ATP (</a:t>
            </a:r>
            <a:r>
              <a:rPr lang="en-US" dirty="0" err="1"/>
              <a:t>formate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faza</a:t>
            </a:r>
            <a:r>
              <a:rPr lang="en-US" dirty="0"/>
              <a:t> </a:t>
            </a:r>
            <a:r>
              <a:rPr lang="en-US" dirty="0" err="1"/>
              <a:t>luminoasă</a:t>
            </a:r>
            <a:r>
              <a:rPr lang="en-US" dirty="0"/>
              <a:t>)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alimenta</a:t>
            </a:r>
            <a:r>
              <a:rPr lang="en-US" dirty="0"/>
              <a:t> </a:t>
            </a:r>
            <a:r>
              <a:rPr lang="en-US" dirty="0" err="1"/>
              <a:t>reacțiile</a:t>
            </a:r>
            <a:r>
              <a:rPr lang="en-US" dirty="0"/>
              <a:t> de </a:t>
            </a:r>
            <a:r>
              <a:rPr lang="en-US" dirty="0" err="1"/>
              <a:t>sinteză</a:t>
            </a:r>
            <a:r>
              <a:rPr lang="ro-RO" dirty="0"/>
              <a:t>.</a:t>
            </a:r>
            <a:endParaRPr lang="en-US" dirty="0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3322B0EB-0749-E394-7D78-05C325473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7258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68D10-52FC-614F-89A5-4F793BEFE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5836" y="246184"/>
            <a:ext cx="6840328" cy="1037493"/>
          </a:xfrm>
        </p:spPr>
        <p:txBody>
          <a:bodyPr/>
          <a:lstStyle/>
          <a:p>
            <a:pPr algn="ctr"/>
            <a:r>
              <a:rPr lang="ro-RO" sz="2400" dirty="0"/>
              <a:t>ATP</a:t>
            </a:r>
            <a:br>
              <a:rPr lang="ro-RO" sz="2400" dirty="0"/>
            </a:br>
            <a:r>
              <a:rPr lang="ro-RO" sz="2400" dirty="0"/>
              <a:t>-</a:t>
            </a:r>
            <a:r>
              <a:rPr lang="en-US" sz="2400" dirty="0"/>
              <a:t>Moneda </a:t>
            </a:r>
            <a:r>
              <a:rPr lang="ro-RO" sz="2400" dirty="0"/>
              <a:t>e</a:t>
            </a:r>
            <a:r>
              <a:rPr lang="en-US" sz="2400" dirty="0" err="1"/>
              <a:t>nergetică</a:t>
            </a:r>
            <a:r>
              <a:rPr lang="en-US" sz="2400" dirty="0"/>
              <a:t> </a:t>
            </a:r>
            <a:r>
              <a:rPr lang="ro-RO" sz="2400" dirty="0"/>
              <a:t>u</a:t>
            </a:r>
            <a:r>
              <a:rPr lang="en-US" sz="2400" dirty="0" err="1"/>
              <a:t>niversală</a:t>
            </a:r>
            <a:r>
              <a:rPr lang="en-US" sz="2400" dirty="0"/>
              <a:t> a </a:t>
            </a:r>
            <a:r>
              <a:rPr lang="ro-RO" sz="2400" dirty="0"/>
              <a:t>c</a:t>
            </a:r>
            <a:r>
              <a:rPr lang="en-US" sz="2400" dirty="0" err="1"/>
              <a:t>elulei</a:t>
            </a:r>
            <a:r>
              <a:rPr lang="ro-RO" sz="2400" dirty="0"/>
              <a:t>-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851ADD2-7F6D-B9D5-BCFE-E3D96752F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238" y="1942477"/>
            <a:ext cx="4677196" cy="323681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5C5FD85-E72E-D48C-0D76-91EA62829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8908" y="1157728"/>
            <a:ext cx="6665854" cy="5700272"/>
          </a:xfrm>
        </p:spPr>
        <p:txBody>
          <a:bodyPr/>
          <a:lstStyle/>
          <a:p>
            <a:r>
              <a:rPr lang="en-US" sz="1800" b="1" dirty="0" err="1"/>
              <a:t>Adenozin</a:t>
            </a:r>
            <a:r>
              <a:rPr lang="en-US" sz="1800" b="1" dirty="0"/>
              <a:t> </a:t>
            </a:r>
            <a:r>
              <a:rPr lang="en-US" sz="1800" b="1" dirty="0" err="1"/>
              <a:t>trifosfatul</a:t>
            </a:r>
            <a:r>
              <a:rPr lang="en-US" sz="1800" b="1" dirty="0"/>
              <a:t> (ATP)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molecula</a:t>
            </a:r>
            <a:r>
              <a:rPr lang="en-US" sz="1800" dirty="0"/>
              <a:t> </a:t>
            </a:r>
            <a:r>
              <a:rPr lang="en-US" sz="1800" dirty="0" err="1"/>
              <a:t>centrală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bioenergetică</a:t>
            </a:r>
            <a:r>
              <a:rPr lang="en-US" sz="1800" dirty="0"/>
              <a:t>, </a:t>
            </a:r>
            <a:r>
              <a:rPr lang="en-US" sz="1800" dirty="0" err="1"/>
              <a:t>funcționând</a:t>
            </a:r>
            <a:r>
              <a:rPr lang="en-US" sz="1800" dirty="0"/>
              <a:t> ca </a:t>
            </a:r>
            <a:r>
              <a:rPr lang="en-US" sz="1800" dirty="0" err="1"/>
              <a:t>principalul</a:t>
            </a:r>
            <a:r>
              <a:rPr lang="en-US" sz="1800" dirty="0"/>
              <a:t> </a:t>
            </a:r>
            <a:r>
              <a:rPr lang="en-US" sz="1800" dirty="0" err="1"/>
              <a:t>transportor</a:t>
            </a:r>
            <a:r>
              <a:rPr lang="en-US" sz="1800" dirty="0"/>
              <a:t> de </a:t>
            </a:r>
            <a:r>
              <a:rPr lang="en-US" sz="1800" dirty="0" err="1"/>
              <a:t>energie</a:t>
            </a:r>
            <a:r>
              <a:rPr lang="en-US" sz="1800" dirty="0"/>
              <a:t> </a:t>
            </a:r>
            <a:r>
              <a:rPr lang="en-US" sz="1800" dirty="0" err="1"/>
              <a:t>chimică</a:t>
            </a:r>
            <a:r>
              <a:rPr lang="en-US" sz="1800" dirty="0"/>
              <a:t> direct </a:t>
            </a:r>
            <a:r>
              <a:rPr lang="en-US" sz="1800" dirty="0" err="1"/>
              <a:t>utilizabilă</a:t>
            </a:r>
            <a:r>
              <a:rPr lang="en-US" sz="1800" dirty="0"/>
              <a:t> de </a:t>
            </a:r>
            <a:r>
              <a:rPr lang="en-US" sz="1800" dirty="0" err="1"/>
              <a:t>către</a:t>
            </a:r>
            <a:r>
              <a:rPr lang="en-US" sz="1800" dirty="0"/>
              <a:t> </a:t>
            </a:r>
            <a:r>
              <a:rPr lang="en-US" sz="1800" dirty="0" err="1"/>
              <a:t>celulă</a:t>
            </a:r>
            <a:r>
              <a:rPr lang="en-US" sz="1800" dirty="0"/>
              <a:t>. </a:t>
            </a:r>
            <a:r>
              <a:rPr lang="en-US" sz="1800" dirty="0" err="1"/>
              <a:t>Această</a:t>
            </a:r>
            <a:r>
              <a:rPr lang="en-US" sz="1800" dirty="0"/>
              <a:t> </a:t>
            </a:r>
            <a:r>
              <a:rPr lang="en-US" sz="1800" dirty="0" err="1"/>
              <a:t>energie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esențială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alimentarea</a:t>
            </a:r>
            <a:r>
              <a:rPr lang="en-US" sz="1800" dirty="0"/>
              <a:t> </a:t>
            </a:r>
            <a:r>
              <a:rPr lang="en-US" sz="1800" dirty="0" err="1"/>
              <a:t>tuturor</a:t>
            </a:r>
            <a:r>
              <a:rPr lang="en-US" sz="1800" dirty="0"/>
              <a:t> </a:t>
            </a:r>
            <a:r>
              <a:rPr lang="en-US" sz="1800" dirty="0" err="1"/>
              <a:t>proceselor</a:t>
            </a:r>
            <a:r>
              <a:rPr lang="en-US" sz="1800" dirty="0"/>
              <a:t> </a:t>
            </a:r>
            <a:r>
              <a:rPr lang="en-US" sz="1800" dirty="0" err="1"/>
              <a:t>anabolice</a:t>
            </a:r>
            <a:r>
              <a:rPr lang="en-US" sz="1800" dirty="0"/>
              <a:t> (de </a:t>
            </a:r>
            <a:r>
              <a:rPr lang="en-US" sz="1800" dirty="0" err="1"/>
              <a:t>sinteză</a:t>
            </a:r>
            <a:r>
              <a:rPr lang="en-US" sz="1800" dirty="0"/>
              <a:t>).</a:t>
            </a:r>
          </a:p>
          <a:p>
            <a:r>
              <a:rPr lang="en-US" sz="1800" dirty="0"/>
              <a:t>	</a:t>
            </a:r>
            <a:r>
              <a:rPr lang="en-US" sz="1800" dirty="0" err="1"/>
              <a:t>Structura</a:t>
            </a:r>
            <a:r>
              <a:rPr lang="en-US" sz="1800" dirty="0"/>
              <a:t> ATP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similară</a:t>
            </a:r>
            <a:r>
              <a:rPr lang="en-US" sz="1800" dirty="0"/>
              <a:t> cu </a:t>
            </a:r>
            <a:r>
              <a:rPr lang="en-US" sz="1800" dirty="0" err="1"/>
              <a:t>cea</a:t>
            </a:r>
            <a:r>
              <a:rPr lang="en-US" sz="1800" dirty="0"/>
              <a:t> a </a:t>
            </a:r>
            <a:r>
              <a:rPr lang="en-US" sz="1800" b="1" dirty="0" err="1"/>
              <a:t>adenozin</a:t>
            </a:r>
            <a:r>
              <a:rPr lang="en-US" sz="1800" b="1" dirty="0"/>
              <a:t> </a:t>
            </a:r>
            <a:r>
              <a:rPr lang="en-US" sz="1800" b="1" dirty="0" err="1"/>
              <a:t>difosfatului</a:t>
            </a:r>
            <a:r>
              <a:rPr lang="en-US" sz="1800" b="1" dirty="0"/>
              <a:t> (ADP)</a:t>
            </a:r>
            <a:r>
              <a:rPr lang="en-US" sz="1800" dirty="0"/>
              <a:t>, </a:t>
            </a:r>
            <a:r>
              <a:rPr lang="en-US" sz="1800" dirty="0" err="1"/>
              <a:t>diferența</a:t>
            </a:r>
            <a:r>
              <a:rPr lang="en-US" sz="1800" dirty="0"/>
              <a:t> </a:t>
            </a:r>
            <a:r>
              <a:rPr lang="en-US" sz="1800" dirty="0" err="1"/>
              <a:t>critică</a:t>
            </a:r>
            <a:r>
              <a:rPr lang="en-US" sz="1800" dirty="0"/>
              <a:t> </a:t>
            </a:r>
            <a:r>
              <a:rPr lang="en-US" sz="1800" dirty="0" err="1"/>
              <a:t>constând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numărul</a:t>
            </a:r>
            <a:r>
              <a:rPr lang="en-US" sz="1800" dirty="0"/>
              <a:t> de </a:t>
            </a:r>
            <a:r>
              <a:rPr lang="en-US" sz="1800" dirty="0" err="1"/>
              <a:t>grupări</a:t>
            </a:r>
            <a:r>
              <a:rPr lang="en-US" sz="1800" dirty="0"/>
              <a:t> </a:t>
            </a:r>
            <a:r>
              <a:rPr lang="en-US" sz="1800" dirty="0" err="1"/>
              <a:t>fosfat</a:t>
            </a:r>
            <a:r>
              <a:rPr lang="en-US" sz="1800" dirty="0"/>
              <a:t>. </a:t>
            </a:r>
            <a:r>
              <a:rPr lang="en-US" sz="1800" dirty="0" err="1"/>
              <a:t>Gruparea</a:t>
            </a:r>
            <a:r>
              <a:rPr lang="en-US" sz="1800" dirty="0"/>
              <a:t> </a:t>
            </a:r>
            <a:r>
              <a:rPr lang="en-US" sz="1800" dirty="0" err="1"/>
              <a:t>trifosfat</a:t>
            </a:r>
            <a:r>
              <a:rPr lang="en-US" sz="1800" dirty="0"/>
              <a:t> din ATP </a:t>
            </a:r>
            <a:r>
              <a:rPr lang="en-US" sz="1800" dirty="0" err="1"/>
              <a:t>conține</a:t>
            </a:r>
            <a:r>
              <a:rPr lang="en-US" sz="1800" dirty="0"/>
              <a:t> </a:t>
            </a:r>
            <a:r>
              <a:rPr lang="en-US" sz="1800" b="1" dirty="0" err="1"/>
              <a:t>două</a:t>
            </a:r>
            <a:r>
              <a:rPr lang="en-US" sz="1800" b="1" dirty="0"/>
              <a:t> </a:t>
            </a:r>
            <a:r>
              <a:rPr lang="en-US" sz="1800" b="1" dirty="0" err="1"/>
              <a:t>legături</a:t>
            </a:r>
            <a:r>
              <a:rPr lang="en-US" sz="1800" b="1" dirty="0"/>
              <a:t> </a:t>
            </a:r>
            <a:r>
              <a:rPr lang="en-US" sz="1800" b="1" dirty="0" err="1"/>
              <a:t>macroenergetice</a:t>
            </a:r>
            <a:r>
              <a:rPr lang="en-US" sz="1800" dirty="0"/>
              <a:t> (cu un </a:t>
            </a:r>
            <a:r>
              <a:rPr lang="en-US" sz="1800" dirty="0" err="1"/>
              <a:t>conținut</a:t>
            </a:r>
            <a:r>
              <a:rPr lang="en-US" sz="1800" dirty="0"/>
              <a:t> energetic </a:t>
            </a:r>
            <a:r>
              <a:rPr lang="en-US" sz="1800" dirty="0" err="1"/>
              <a:t>ridicat</a:t>
            </a:r>
            <a:r>
              <a:rPr lang="en-US" sz="1800" dirty="0"/>
              <a:t>),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timp</a:t>
            </a:r>
            <a:r>
              <a:rPr lang="en-US" sz="1800" dirty="0"/>
              <a:t> </a:t>
            </a:r>
            <a:r>
              <a:rPr lang="en-US" sz="1800" dirty="0" err="1"/>
              <a:t>ce</a:t>
            </a:r>
            <a:r>
              <a:rPr lang="en-US" sz="1800" dirty="0"/>
              <a:t> ADP </a:t>
            </a:r>
            <a:r>
              <a:rPr lang="en-US" sz="1800" dirty="0" err="1"/>
              <a:t>conține</a:t>
            </a:r>
            <a:r>
              <a:rPr lang="en-US" sz="1800" dirty="0"/>
              <a:t> </a:t>
            </a:r>
            <a:r>
              <a:rPr lang="en-US" sz="1800" dirty="0" err="1"/>
              <a:t>doar</a:t>
            </a:r>
            <a:r>
              <a:rPr lang="en-US" sz="1800" dirty="0"/>
              <a:t> </a:t>
            </a:r>
            <a:r>
              <a:rPr lang="en-US" sz="1800" dirty="0" err="1"/>
              <a:t>una</a:t>
            </a:r>
            <a:r>
              <a:rPr lang="en-US" sz="1800" dirty="0"/>
              <a:t>.</a:t>
            </a:r>
          </a:p>
          <a:p>
            <a:r>
              <a:rPr lang="en-US" sz="1800" dirty="0"/>
              <a:t>	 </a:t>
            </a:r>
            <a:r>
              <a:rPr lang="en-US" sz="1800" dirty="0" err="1"/>
              <a:t>Ruperea</a:t>
            </a:r>
            <a:r>
              <a:rPr lang="en-US" sz="1800" dirty="0"/>
              <a:t> </a:t>
            </a:r>
            <a:r>
              <a:rPr lang="en-US" sz="1800" dirty="0" err="1"/>
              <a:t>acestor</a:t>
            </a:r>
            <a:r>
              <a:rPr lang="en-US" sz="1800" dirty="0"/>
              <a:t> </a:t>
            </a:r>
            <a:r>
              <a:rPr lang="en-US" sz="1800" dirty="0" err="1"/>
              <a:t>legături</a:t>
            </a:r>
            <a:r>
              <a:rPr lang="en-US" sz="1800" dirty="0"/>
              <a:t> </a:t>
            </a:r>
            <a:r>
              <a:rPr lang="en-US" sz="1800" dirty="0" err="1"/>
              <a:t>eliberează</a:t>
            </a:r>
            <a:r>
              <a:rPr lang="en-US" sz="1800" dirty="0"/>
              <a:t> o </a:t>
            </a:r>
            <a:r>
              <a:rPr lang="en-US" sz="1800" dirty="0" err="1"/>
              <a:t>cantitate</a:t>
            </a:r>
            <a:r>
              <a:rPr lang="en-US" sz="1800" dirty="0"/>
              <a:t> </a:t>
            </a:r>
            <a:r>
              <a:rPr lang="en-US" sz="1800" dirty="0" err="1"/>
              <a:t>semnificativă</a:t>
            </a:r>
            <a:r>
              <a:rPr lang="en-US" sz="1800" dirty="0"/>
              <a:t> de </a:t>
            </a:r>
            <a:r>
              <a:rPr lang="en-US" sz="1800" dirty="0" err="1"/>
              <a:t>energie</a:t>
            </a:r>
            <a:r>
              <a:rPr lang="en-US" sz="1800" dirty="0"/>
              <a:t>. </a:t>
            </a:r>
            <a:r>
              <a:rPr lang="en-US" sz="1800" dirty="0" err="1"/>
              <a:t>Reacția</a:t>
            </a:r>
            <a:r>
              <a:rPr lang="en-US" sz="1800" dirty="0"/>
              <a:t> </a:t>
            </a:r>
            <a:r>
              <a:rPr lang="en-US" sz="1800" dirty="0" err="1"/>
              <a:t>cheie</a:t>
            </a:r>
            <a:r>
              <a:rPr lang="en-US" sz="1800" dirty="0"/>
              <a:t> </a:t>
            </a:r>
            <a:r>
              <a:rPr lang="en-US" sz="1800" dirty="0" err="1"/>
              <a:t>prin</a:t>
            </a:r>
            <a:r>
              <a:rPr lang="en-US" sz="1800" dirty="0"/>
              <a:t> care </a:t>
            </a:r>
            <a:r>
              <a:rPr lang="en-US" sz="1800" dirty="0" err="1"/>
              <a:t>celula</a:t>
            </a:r>
            <a:r>
              <a:rPr lang="en-US" sz="1800" dirty="0"/>
              <a:t> </a:t>
            </a:r>
            <a:r>
              <a:rPr lang="en-US" sz="1800" dirty="0" err="1"/>
              <a:t>accesează</a:t>
            </a:r>
            <a:r>
              <a:rPr lang="en-US" sz="1800" dirty="0"/>
              <a:t> </a:t>
            </a:r>
            <a:r>
              <a:rPr lang="en-US" sz="1800" dirty="0" err="1"/>
              <a:t>această</a:t>
            </a:r>
            <a:r>
              <a:rPr lang="en-US" sz="1800" dirty="0"/>
              <a:t> </a:t>
            </a:r>
            <a:r>
              <a:rPr lang="en-US" sz="1800" dirty="0" err="1"/>
              <a:t>energie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hidroliza</a:t>
            </a:r>
            <a:r>
              <a:rPr lang="en-US" sz="1800" dirty="0"/>
              <a:t> ATP:</a:t>
            </a:r>
          </a:p>
          <a:p>
            <a:r>
              <a:rPr lang="en-US" dirty="0"/>
              <a:t>		ATP + H₂O → ADP + H₃PO₄ + </a:t>
            </a:r>
            <a:r>
              <a:rPr lang="en-US" dirty="0" err="1"/>
              <a:t>energie</a:t>
            </a:r>
            <a:endParaRPr lang="en-US" sz="1800" dirty="0"/>
          </a:p>
          <a:p>
            <a:r>
              <a:rPr lang="en-US" sz="1800" dirty="0"/>
              <a:t>	</a:t>
            </a:r>
            <a:r>
              <a:rPr lang="en-US" sz="1800" dirty="0" err="1"/>
              <a:t>Acest</a:t>
            </a:r>
            <a:r>
              <a:rPr lang="en-US" sz="1800" dirty="0"/>
              <a:t> </a:t>
            </a:r>
            <a:r>
              <a:rPr lang="en-US" sz="1800" dirty="0" err="1"/>
              <a:t>ciclu</a:t>
            </a:r>
            <a:r>
              <a:rPr lang="en-US" sz="1800" dirty="0"/>
              <a:t> </a:t>
            </a:r>
            <a:r>
              <a:rPr lang="en-US" sz="1800" dirty="0" err="1"/>
              <a:t>continuu</a:t>
            </a:r>
            <a:r>
              <a:rPr lang="en-US" sz="1800" dirty="0"/>
              <a:t> </a:t>
            </a:r>
            <a:r>
              <a:rPr lang="en-US" sz="1800" dirty="0" err="1"/>
              <a:t>conferă</a:t>
            </a:r>
            <a:r>
              <a:rPr lang="en-US" sz="1800" dirty="0"/>
              <a:t> </a:t>
            </a:r>
            <a:r>
              <a:rPr lang="en-US" sz="1800" dirty="0" err="1"/>
              <a:t>celor</a:t>
            </a:r>
            <a:r>
              <a:rPr lang="en-US" sz="1800" dirty="0"/>
              <a:t> </a:t>
            </a:r>
            <a:r>
              <a:rPr lang="en-US" sz="1800" dirty="0" err="1"/>
              <a:t>două</a:t>
            </a:r>
            <a:r>
              <a:rPr lang="en-US" sz="1800" dirty="0"/>
              <a:t> molecule </a:t>
            </a:r>
            <a:r>
              <a:rPr lang="en-US" sz="1800" dirty="0" err="1"/>
              <a:t>roluri</a:t>
            </a:r>
            <a:r>
              <a:rPr lang="en-US" sz="1800" dirty="0"/>
              <a:t> duale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complementare</a:t>
            </a:r>
            <a:r>
              <a:rPr lang="en-US" sz="1800" dirty="0"/>
              <a:t>. ATP </a:t>
            </a:r>
            <a:r>
              <a:rPr lang="en-US" sz="1800" dirty="0" err="1"/>
              <a:t>poate</a:t>
            </a:r>
            <a:r>
              <a:rPr lang="en-US" sz="1800" dirty="0"/>
              <a:t> fi </a:t>
            </a:r>
            <a:r>
              <a:rPr lang="en-US" sz="1800" dirty="0" err="1"/>
              <a:t>considerat</a:t>
            </a:r>
            <a:r>
              <a:rPr lang="en-US" sz="1800" dirty="0"/>
              <a:t> un </a:t>
            </a:r>
            <a:r>
              <a:rPr lang="en-US" sz="1800" b="1" dirty="0"/>
              <a:t>"generator de </a:t>
            </a:r>
            <a:r>
              <a:rPr lang="en-US" sz="1800" b="1" dirty="0" err="1"/>
              <a:t>energie</a:t>
            </a:r>
            <a:r>
              <a:rPr lang="en-US" sz="1800" b="1" dirty="0"/>
              <a:t>"</a:t>
            </a:r>
            <a:r>
              <a:rPr lang="en-US" sz="1800" dirty="0"/>
              <a:t>, gata </a:t>
            </a:r>
            <a:r>
              <a:rPr lang="en-US" sz="1800" dirty="0" err="1"/>
              <a:t>să</a:t>
            </a:r>
            <a:r>
              <a:rPr lang="en-US" sz="1800" dirty="0"/>
              <a:t> o </a:t>
            </a:r>
            <a:r>
              <a:rPr lang="en-US" sz="1800" dirty="0" err="1"/>
              <a:t>cedeze</a:t>
            </a:r>
            <a:r>
              <a:rPr lang="en-US" sz="1800" dirty="0"/>
              <a:t> rapid </a:t>
            </a:r>
            <a:r>
              <a:rPr lang="en-US" sz="1800" dirty="0" err="1"/>
              <a:t>acolo</a:t>
            </a:r>
            <a:r>
              <a:rPr lang="en-US" sz="1800" dirty="0"/>
              <a:t> </a:t>
            </a:r>
            <a:r>
              <a:rPr lang="en-US" sz="1800" dirty="0" err="1"/>
              <a:t>unde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nevoie</a:t>
            </a:r>
            <a:r>
              <a:rPr lang="en-US" sz="1800" dirty="0"/>
              <a:t>,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timp</a:t>
            </a:r>
            <a:r>
              <a:rPr lang="en-US" sz="1800" dirty="0"/>
              <a:t> </a:t>
            </a:r>
            <a:r>
              <a:rPr lang="en-US" sz="1800" dirty="0" err="1"/>
              <a:t>ce</a:t>
            </a:r>
            <a:r>
              <a:rPr lang="en-US" sz="1800" dirty="0"/>
              <a:t> ADP </a:t>
            </a:r>
            <a:r>
              <a:rPr lang="en-US" sz="1800" dirty="0" err="1"/>
              <a:t>funcționează</a:t>
            </a:r>
            <a:r>
              <a:rPr lang="en-US" sz="1800" dirty="0"/>
              <a:t> ca un </a:t>
            </a:r>
            <a:r>
              <a:rPr lang="en-US" sz="1800" b="1" dirty="0"/>
              <a:t>"</a:t>
            </a:r>
            <a:r>
              <a:rPr lang="en-US" sz="1800" b="1" dirty="0" err="1"/>
              <a:t>acumulator</a:t>
            </a:r>
            <a:r>
              <a:rPr lang="en-US" sz="1800" b="1" dirty="0"/>
              <a:t> de </a:t>
            </a:r>
            <a:r>
              <a:rPr lang="en-US" sz="1800" b="1" dirty="0" err="1"/>
              <a:t>energie</a:t>
            </a:r>
            <a:r>
              <a:rPr lang="en-US" sz="1800" b="1" dirty="0"/>
              <a:t>"</a:t>
            </a:r>
            <a:r>
              <a:rPr lang="en-US" sz="1800" dirty="0"/>
              <a:t>, </a:t>
            </a:r>
            <a:r>
              <a:rPr lang="en-US" sz="1800" dirty="0" err="1"/>
              <a:t>capabil</a:t>
            </a:r>
            <a:r>
              <a:rPr lang="en-US" sz="1800" dirty="0"/>
              <a:t> </a:t>
            </a:r>
            <a:r>
              <a:rPr lang="en-US" sz="1800" dirty="0" err="1"/>
              <a:t>să</a:t>
            </a:r>
            <a:r>
              <a:rPr lang="en-US" sz="1800" dirty="0"/>
              <a:t> </a:t>
            </a:r>
            <a:r>
              <a:rPr lang="en-US" sz="1800" dirty="0" err="1"/>
              <a:t>capteze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să</a:t>
            </a:r>
            <a:r>
              <a:rPr lang="en-US" sz="1800" dirty="0"/>
              <a:t> </a:t>
            </a:r>
            <a:r>
              <a:rPr lang="en-US" sz="1800" dirty="0" err="1"/>
              <a:t>stocheze</a:t>
            </a:r>
            <a:r>
              <a:rPr lang="en-US" sz="1800" dirty="0"/>
              <a:t> </a:t>
            </a:r>
            <a:r>
              <a:rPr lang="en-US" sz="1800" dirty="0" err="1"/>
              <a:t>energia</a:t>
            </a:r>
            <a:r>
              <a:rPr lang="en-US" sz="1800" dirty="0"/>
              <a:t> </a:t>
            </a:r>
            <a:r>
              <a:rPr lang="en-US" sz="1800" dirty="0" err="1"/>
              <a:t>eliberată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alte</a:t>
            </a:r>
            <a:r>
              <a:rPr lang="en-US" sz="1800" dirty="0"/>
              <a:t> </a:t>
            </a:r>
            <a:r>
              <a:rPr lang="en-US" sz="1800" dirty="0" err="1"/>
              <a:t>procese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a se reface </a:t>
            </a:r>
            <a:r>
              <a:rPr lang="en-US" sz="1800" dirty="0" err="1"/>
              <a:t>în</a:t>
            </a:r>
            <a:r>
              <a:rPr lang="en-US" sz="1800" dirty="0"/>
              <a:t> ATP. </a:t>
            </a:r>
          </a:p>
          <a:p>
            <a:r>
              <a:rPr lang="en-US" sz="1800" dirty="0"/>
              <a:t>Sursa </a:t>
            </a:r>
            <a:r>
              <a:rPr lang="en-US" sz="1800" dirty="0" err="1"/>
              <a:t>fundamentală</a:t>
            </a:r>
            <a:r>
              <a:rPr lang="en-US" sz="1800" dirty="0"/>
              <a:t> de </a:t>
            </a:r>
            <a:r>
              <a:rPr lang="en-US" sz="1800" dirty="0" err="1"/>
              <a:t>energie</a:t>
            </a:r>
            <a:r>
              <a:rPr lang="en-US" sz="1800" dirty="0"/>
              <a:t> </a:t>
            </a:r>
            <a:r>
              <a:rPr lang="en-US" sz="1800" dirty="0" err="1"/>
              <a:t>necesară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</a:t>
            </a:r>
            <a:r>
              <a:rPr lang="en-US" sz="1800" dirty="0" err="1"/>
              <a:t>refacerea</a:t>
            </a:r>
            <a:r>
              <a:rPr lang="en-US" sz="1800" dirty="0"/>
              <a:t> </a:t>
            </a:r>
            <a:r>
              <a:rPr lang="en-US" sz="1800" dirty="0" err="1"/>
              <a:t>constantă</a:t>
            </a:r>
            <a:r>
              <a:rPr lang="en-US" sz="1800" dirty="0"/>
              <a:t> a </a:t>
            </a:r>
            <a:r>
              <a:rPr lang="en-US" sz="1800" dirty="0" err="1"/>
              <a:t>rezervelor</a:t>
            </a:r>
            <a:r>
              <a:rPr lang="en-US" sz="1800" dirty="0"/>
              <a:t> de ATP </a:t>
            </a:r>
            <a:r>
              <a:rPr lang="en-US" sz="1800" dirty="0" err="1"/>
              <a:t>provine</a:t>
            </a:r>
            <a:r>
              <a:rPr lang="en-US" sz="1800" dirty="0"/>
              <a:t>,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cele</a:t>
            </a:r>
            <a:r>
              <a:rPr lang="en-US" sz="1800" dirty="0"/>
              <a:t> din </a:t>
            </a:r>
            <a:r>
              <a:rPr lang="en-US" sz="1800" dirty="0" err="1"/>
              <a:t>urmă</a:t>
            </a:r>
            <a:r>
              <a:rPr lang="en-US" sz="1800" dirty="0"/>
              <a:t>, din </a:t>
            </a:r>
            <a:r>
              <a:rPr lang="en-US" sz="1800" dirty="0" err="1"/>
              <a:t>procesele</a:t>
            </a:r>
            <a:r>
              <a:rPr lang="en-US" sz="1800" dirty="0"/>
              <a:t> de </a:t>
            </a:r>
            <a:r>
              <a:rPr lang="en-US" sz="1800" b="1" dirty="0" err="1"/>
              <a:t>metabolizare</a:t>
            </a:r>
            <a:r>
              <a:rPr lang="en-US" sz="1800" b="1" dirty="0"/>
              <a:t> a </a:t>
            </a:r>
            <a:r>
              <a:rPr lang="en-US" sz="1800" b="1" dirty="0" err="1"/>
              <a:t>alimentelor</a:t>
            </a:r>
            <a:r>
              <a:rPr lang="en-US" sz="1800" dirty="0"/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1008B0-7BEC-4DAD-AC13-32A0EB71AAA8}"/>
              </a:ext>
            </a:extLst>
          </p:cNvPr>
          <p:cNvSpPr txBox="1"/>
          <p:nvPr/>
        </p:nvSpPr>
        <p:spPr>
          <a:xfrm>
            <a:off x="219808" y="5328138"/>
            <a:ext cx="49691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dirty="0"/>
              <a:t>Ciclul ATP-ADP</a:t>
            </a:r>
          </a:p>
          <a:p>
            <a:r>
              <a:rPr lang="sv-SE" dirty="0"/>
              <a:t>ATP a fost descoperit în 1929 de către chimistul german Karl Lohmann</a:t>
            </a:r>
            <a:r>
              <a:rPr lang="ro-RO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5226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135DEC17-7793-A28F-6420-878EDB94ED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3200" b="1" dirty="0"/>
              <a:t>Energia din Alimentație: O Perspectivă Termochimică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65AE64-060D-5DA2-F1C8-F32CD8298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BE4DE73-AAAE-19C1-A896-2591571E3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1810512"/>
            <a:ext cx="8615406" cy="416052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Analogia </a:t>
            </a:r>
            <a:r>
              <a:rPr lang="en-US" sz="1800" dirty="0" err="1"/>
              <a:t>dintre</a:t>
            </a:r>
            <a:r>
              <a:rPr lang="en-US" sz="1800" dirty="0"/>
              <a:t> </a:t>
            </a:r>
            <a:r>
              <a:rPr lang="en-US" sz="1800" b="1" dirty="0" err="1"/>
              <a:t>metabolizarea</a:t>
            </a:r>
            <a:r>
              <a:rPr lang="en-US" sz="1800" dirty="0"/>
              <a:t> </a:t>
            </a:r>
            <a:r>
              <a:rPr lang="en-US" sz="1800" dirty="0" err="1"/>
              <a:t>hranei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organism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arderea</a:t>
            </a:r>
            <a:r>
              <a:rPr lang="en-US" sz="1800" dirty="0"/>
              <a:t> </a:t>
            </a:r>
            <a:r>
              <a:rPr lang="en-US" sz="1800" dirty="0" err="1"/>
              <a:t>acesteia</a:t>
            </a:r>
            <a:r>
              <a:rPr lang="en-US" sz="1800" dirty="0"/>
              <a:t> </a:t>
            </a:r>
            <a:r>
              <a:rPr lang="en-US" sz="1800" dirty="0" err="1"/>
              <a:t>într</a:t>
            </a:r>
            <a:r>
              <a:rPr lang="en-US" sz="1800" dirty="0"/>
              <a:t>-un </a:t>
            </a:r>
            <a:r>
              <a:rPr lang="en-US" sz="1800" dirty="0" err="1"/>
              <a:t>dispozitiv</a:t>
            </a:r>
            <a:r>
              <a:rPr lang="en-US" sz="1800" dirty="0"/>
              <a:t> de </a:t>
            </a:r>
            <a:r>
              <a:rPr lang="en-US" sz="1800" dirty="0" err="1"/>
              <a:t>laborator</a:t>
            </a:r>
            <a:r>
              <a:rPr lang="en-US" sz="1800" dirty="0"/>
              <a:t>, precum </a:t>
            </a:r>
            <a:r>
              <a:rPr lang="en-US" sz="1800" b="1" dirty="0" err="1"/>
              <a:t>bomba</a:t>
            </a:r>
            <a:r>
              <a:rPr lang="en-US" sz="1800" b="1" dirty="0"/>
              <a:t> </a:t>
            </a:r>
            <a:r>
              <a:rPr lang="en-US" sz="1800" b="1" dirty="0" err="1"/>
              <a:t>calorimetrică</a:t>
            </a:r>
            <a:r>
              <a:rPr lang="en-US" sz="1800" dirty="0"/>
              <a:t>, </a:t>
            </a:r>
            <a:r>
              <a:rPr lang="en-US" sz="1800" dirty="0" err="1"/>
              <a:t>oferă</a:t>
            </a:r>
            <a:r>
              <a:rPr lang="en-US" sz="1800" dirty="0"/>
              <a:t> o </a:t>
            </a:r>
            <a:r>
              <a:rPr lang="en-US" sz="1800" dirty="0" err="1"/>
              <a:t>perspectivă</a:t>
            </a:r>
            <a:r>
              <a:rPr lang="en-US" sz="1800" dirty="0"/>
              <a:t> </a:t>
            </a:r>
            <a:r>
              <a:rPr lang="en-US" sz="1800" dirty="0" err="1"/>
              <a:t>directă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cuantificabilă</a:t>
            </a:r>
            <a:r>
              <a:rPr lang="en-US" sz="1800" dirty="0"/>
              <a:t> </a:t>
            </a:r>
            <a:r>
              <a:rPr lang="en-US" sz="1800" dirty="0" err="1"/>
              <a:t>asupra</a:t>
            </a:r>
            <a:r>
              <a:rPr lang="en-US" sz="1800" dirty="0"/>
              <a:t> </a:t>
            </a:r>
            <a:r>
              <a:rPr lang="en-US" sz="1800" dirty="0" err="1"/>
              <a:t>conținutului</a:t>
            </a:r>
            <a:r>
              <a:rPr lang="en-US" sz="1800" dirty="0"/>
              <a:t> energetic al </a:t>
            </a:r>
            <a:r>
              <a:rPr lang="en-US" sz="1800" dirty="0" err="1"/>
              <a:t>dietei</a:t>
            </a:r>
            <a:r>
              <a:rPr lang="en-US" sz="1800" dirty="0"/>
              <a:t> </a:t>
            </a:r>
            <a:r>
              <a:rPr lang="en-US" sz="1800" dirty="0" err="1"/>
              <a:t>noastre</a:t>
            </a:r>
            <a:r>
              <a:rPr lang="en-US" sz="1800" dirty="0"/>
              <a:t>. </a:t>
            </a:r>
          </a:p>
          <a:p>
            <a:pPr marL="0" indent="0">
              <a:buNone/>
            </a:pP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esență</a:t>
            </a:r>
            <a:r>
              <a:rPr lang="en-US" sz="1800" dirty="0"/>
              <a:t>, </a:t>
            </a:r>
            <a:r>
              <a:rPr lang="en-US" sz="1800" dirty="0" err="1"/>
              <a:t>hrana</a:t>
            </a:r>
            <a:r>
              <a:rPr lang="en-US" sz="1800" dirty="0"/>
              <a:t> pe care o </a:t>
            </a:r>
            <a:r>
              <a:rPr lang="en-US" sz="1800" dirty="0" err="1"/>
              <a:t>ingerăm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supusă</a:t>
            </a:r>
            <a:r>
              <a:rPr lang="en-US" sz="1800" dirty="0"/>
              <a:t> </a:t>
            </a:r>
            <a:r>
              <a:rPr lang="en-US" sz="1800" dirty="0" err="1"/>
              <a:t>unor</a:t>
            </a:r>
            <a:r>
              <a:rPr lang="en-US" sz="1800" dirty="0"/>
              <a:t> </a:t>
            </a:r>
            <a:r>
              <a:rPr lang="en-US" sz="1800" dirty="0" err="1"/>
              <a:t>procese</a:t>
            </a:r>
            <a:r>
              <a:rPr lang="en-US" sz="1800" dirty="0"/>
              <a:t> oxidative care o </a:t>
            </a:r>
            <a:r>
              <a:rPr lang="en-US" sz="1800" dirty="0" err="1"/>
              <a:t>descompun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produși</a:t>
            </a:r>
            <a:r>
              <a:rPr lang="en-US" sz="1800" dirty="0"/>
              <a:t> </a:t>
            </a:r>
            <a:r>
              <a:rPr lang="en-US" sz="1800" dirty="0" err="1"/>
              <a:t>finali</a:t>
            </a:r>
            <a:r>
              <a:rPr lang="en-US" sz="1800" dirty="0"/>
              <a:t> </a:t>
            </a:r>
            <a:r>
              <a:rPr lang="en-US" sz="1800" dirty="0" err="1"/>
              <a:t>simpli</a:t>
            </a:r>
            <a:r>
              <a:rPr lang="en-US" sz="1800" dirty="0"/>
              <a:t>, precum </a:t>
            </a:r>
            <a:r>
              <a:rPr lang="en-US" sz="1800" b="1" dirty="0" err="1"/>
              <a:t>dioxid</a:t>
            </a:r>
            <a:r>
              <a:rPr lang="en-US" sz="1800" b="1" dirty="0"/>
              <a:t> de carbon (CO₂)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apă</a:t>
            </a:r>
            <a:r>
              <a:rPr lang="en-US" sz="1800" dirty="0"/>
              <a:t> </a:t>
            </a:r>
            <a:r>
              <a:rPr lang="en-US" sz="1800" b="1" dirty="0"/>
              <a:t>(H₂O)</a:t>
            </a:r>
            <a:r>
              <a:rPr lang="en-US" sz="1800" dirty="0"/>
              <a:t>, </a:t>
            </a:r>
            <a:r>
              <a:rPr lang="en-US" sz="1800" dirty="0" err="1"/>
              <a:t>eliberând</a:t>
            </a:r>
            <a:r>
              <a:rPr lang="en-US" sz="1800" dirty="0"/>
              <a:t> o </a:t>
            </a:r>
            <a:r>
              <a:rPr lang="en-US" sz="1800" dirty="0" err="1"/>
              <a:t>cantitate</a:t>
            </a:r>
            <a:r>
              <a:rPr lang="en-US" sz="1800" dirty="0"/>
              <a:t> de </a:t>
            </a:r>
            <a:r>
              <a:rPr lang="en-US" sz="1800" dirty="0" err="1"/>
              <a:t>energie</a:t>
            </a:r>
            <a:r>
              <a:rPr lang="en-US" sz="1800" dirty="0"/>
              <a:t>. </a:t>
            </a:r>
            <a:r>
              <a:rPr lang="en-US" sz="1800" dirty="0" err="1"/>
              <a:t>Acest</a:t>
            </a:r>
            <a:r>
              <a:rPr lang="en-US" sz="1800" dirty="0"/>
              <a:t> </a:t>
            </a:r>
            <a:r>
              <a:rPr lang="en-US" sz="1800" dirty="0" err="1"/>
              <a:t>proces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echivalent</a:t>
            </a:r>
            <a:r>
              <a:rPr lang="en-US" sz="1800" dirty="0"/>
              <a:t> din </a:t>
            </a:r>
            <a:r>
              <a:rPr lang="en-US" sz="1800" dirty="0" err="1"/>
              <a:t>punct</a:t>
            </a:r>
            <a:r>
              <a:rPr lang="en-US" sz="1800" dirty="0"/>
              <a:t> de </a:t>
            </a:r>
            <a:r>
              <a:rPr lang="en-US" sz="1800" dirty="0" err="1"/>
              <a:t>vedere</a:t>
            </a:r>
            <a:r>
              <a:rPr lang="en-US" sz="1800" dirty="0"/>
              <a:t> energetic cu </a:t>
            </a:r>
            <a:r>
              <a:rPr lang="en-US" sz="1800" b="1" dirty="0" err="1"/>
              <a:t>arderea</a:t>
            </a:r>
            <a:r>
              <a:rPr lang="en-US" sz="1800" b="1" dirty="0"/>
              <a:t> </a:t>
            </a:r>
            <a:r>
              <a:rPr lang="en-US" sz="1800" b="1" dirty="0" err="1"/>
              <a:t>completă</a:t>
            </a:r>
            <a:r>
              <a:rPr lang="en-US" sz="1800" dirty="0"/>
              <a:t>. </a:t>
            </a:r>
          </a:p>
          <a:p>
            <a:pPr marL="0" indent="0">
              <a:buNone/>
            </a:pPr>
            <a:r>
              <a:rPr lang="en-US" sz="1800" dirty="0"/>
              <a:t>De </a:t>
            </a:r>
            <a:r>
              <a:rPr lang="en-US" sz="1800" dirty="0" err="1"/>
              <a:t>exemplu</a:t>
            </a:r>
            <a:r>
              <a:rPr lang="en-US" sz="1800" dirty="0"/>
              <a:t>, la </a:t>
            </a:r>
            <a:r>
              <a:rPr lang="en-US" sz="1800" dirty="0" err="1"/>
              <a:t>arderea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bomba</a:t>
            </a:r>
            <a:r>
              <a:rPr lang="en-US" sz="1800" dirty="0"/>
              <a:t> </a:t>
            </a:r>
            <a:r>
              <a:rPr lang="en-US" sz="1800" dirty="0" err="1"/>
              <a:t>calorimetrică</a:t>
            </a:r>
            <a:r>
              <a:rPr lang="en-US" sz="1800" dirty="0"/>
              <a:t> a 100 de </a:t>
            </a:r>
            <a:r>
              <a:rPr lang="en-US" sz="1800" dirty="0" err="1"/>
              <a:t>grame</a:t>
            </a:r>
            <a:r>
              <a:rPr lang="en-US" sz="1800" dirty="0"/>
              <a:t> de tort se </a:t>
            </a:r>
            <a:r>
              <a:rPr lang="en-US" sz="1800" dirty="0" err="1"/>
              <a:t>obține</a:t>
            </a:r>
            <a:r>
              <a:rPr lang="en-US" sz="1800" dirty="0"/>
              <a:t> o </a:t>
            </a:r>
            <a:r>
              <a:rPr lang="en-US" sz="1800" dirty="0" err="1"/>
              <a:t>cantitate</a:t>
            </a:r>
            <a:r>
              <a:rPr lang="en-US" sz="1800" dirty="0"/>
              <a:t> de </a:t>
            </a:r>
            <a:r>
              <a:rPr lang="en-US" sz="1800" dirty="0" err="1"/>
              <a:t>căldură</a:t>
            </a:r>
            <a:r>
              <a:rPr lang="en-US" sz="1800" dirty="0"/>
              <a:t> de 550 kcal, </a:t>
            </a:r>
            <a:r>
              <a:rPr lang="en-US" sz="1800" dirty="0" err="1"/>
              <a:t>aceasta</a:t>
            </a:r>
            <a:r>
              <a:rPr lang="en-US" sz="1800" dirty="0"/>
              <a:t> </a:t>
            </a:r>
            <a:r>
              <a:rPr lang="en-US" sz="1800" dirty="0" err="1"/>
              <a:t>reprezentând</a:t>
            </a:r>
            <a:r>
              <a:rPr lang="en-US" sz="1800" dirty="0"/>
              <a:t> </a:t>
            </a:r>
            <a:r>
              <a:rPr lang="en-US" sz="1800" dirty="0" err="1"/>
              <a:t>valoarea</a:t>
            </a:r>
            <a:r>
              <a:rPr lang="en-US" sz="1800" dirty="0"/>
              <a:t> </a:t>
            </a:r>
            <a:r>
              <a:rPr lang="en-US" sz="1800" dirty="0" err="1"/>
              <a:t>sa</a:t>
            </a:r>
            <a:r>
              <a:rPr lang="en-US" sz="1800" dirty="0"/>
              <a:t> </a:t>
            </a:r>
            <a:r>
              <a:rPr lang="en-US" sz="1800" dirty="0" err="1"/>
              <a:t>energetică</a:t>
            </a:r>
            <a:r>
              <a:rPr lang="en-US" sz="1800" dirty="0"/>
              <a:t> </a:t>
            </a:r>
            <a:r>
              <a:rPr lang="en-US" sz="1800" dirty="0" err="1"/>
              <a:t>totală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1800" dirty="0" err="1"/>
              <a:t>Organismul</a:t>
            </a:r>
            <a:r>
              <a:rPr lang="en-US" sz="1800" dirty="0"/>
              <a:t> nu </a:t>
            </a:r>
            <a:r>
              <a:rPr lang="en-US" sz="1800" dirty="0" err="1"/>
              <a:t>poate</a:t>
            </a:r>
            <a:r>
              <a:rPr lang="en-US" sz="1800" dirty="0"/>
              <a:t> </a:t>
            </a:r>
            <a:r>
              <a:rPr lang="en-US" sz="1800" dirty="0" err="1"/>
              <a:t>stoca</a:t>
            </a:r>
            <a:r>
              <a:rPr lang="en-US" sz="1800" dirty="0"/>
              <a:t> </a:t>
            </a:r>
            <a:r>
              <a:rPr lang="en-US" sz="1800" dirty="0" err="1"/>
              <a:t>energia</a:t>
            </a:r>
            <a:r>
              <a:rPr lang="en-US" sz="1800" dirty="0"/>
              <a:t> ca </a:t>
            </a:r>
            <a:r>
              <a:rPr lang="en-US" sz="1800" dirty="0" err="1"/>
              <a:t>atare</a:t>
            </a:r>
            <a:r>
              <a:rPr lang="en-US" sz="1800" dirty="0"/>
              <a:t>; </a:t>
            </a:r>
            <a:r>
              <a:rPr lang="en-US" sz="1800" dirty="0" err="1"/>
              <a:t>prin</a:t>
            </a:r>
            <a:r>
              <a:rPr lang="en-US" sz="1800" dirty="0"/>
              <a:t> </a:t>
            </a:r>
            <a:r>
              <a:rPr lang="en-US" sz="1800" dirty="0" err="1"/>
              <a:t>urmare</a:t>
            </a:r>
            <a:r>
              <a:rPr lang="en-US" sz="1800" dirty="0"/>
              <a:t>, </a:t>
            </a:r>
            <a:r>
              <a:rPr lang="en-US" sz="1800" dirty="0" err="1"/>
              <a:t>orice</a:t>
            </a:r>
            <a:r>
              <a:rPr lang="en-US" sz="1800" dirty="0"/>
              <a:t> </a:t>
            </a:r>
            <a:r>
              <a:rPr lang="en-US" sz="1800" dirty="0" err="1"/>
              <a:t>exces</a:t>
            </a:r>
            <a:r>
              <a:rPr lang="en-US" sz="1800" dirty="0"/>
              <a:t> de </a:t>
            </a:r>
            <a:r>
              <a:rPr lang="en-US" sz="1800" dirty="0" err="1"/>
              <a:t>aport</a:t>
            </a:r>
            <a:r>
              <a:rPr lang="en-US" sz="1800" dirty="0"/>
              <a:t> </a:t>
            </a:r>
            <a:r>
              <a:rPr lang="en-US" sz="1800" dirty="0" err="1"/>
              <a:t>alimentar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convertit</a:t>
            </a:r>
            <a:r>
              <a:rPr lang="en-US" sz="1800" dirty="0"/>
              <a:t>,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urma</a:t>
            </a:r>
            <a:r>
              <a:rPr lang="en-US" sz="1800" dirty="0"/>
              <a:t> </a:t>
            </a:r>
            <a:r>
              <a:rPr lang="en-US" sz="1800" dirty="0" err="1"/>
              <a:t>procesului</a:t>
            </a:r>
            <a:r>
              <a:rPr lang="en-US" sz="1800" dirty="0"/>
              <a:t> </a:t>
            </a:r>
            <a:r>
              <a:rPr lang="en-US" sz="1800" dirty="0" err="1"/>
              <a:t>digestiv</a:t>
            </a:r>
            <a:r>
              <a:rPr lang="en-US" sz="1800" dirty="0"/>
              <a:t>,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compuși</a:t>
            </a:r>
            <a:r>
              <a:rPr lang="en-US" sz="1800" dirty="0"/>
              <a:t> de </a:t>
            </a:r>
            <a:r>
              <a:rPr lang="en-US" sz="1800" dirty="0" err="1"/>
              <a:t>rezervă</a:t>
            </a:r>
            <a:r>
              <a:rPr lang="en-US" sz="1800" dirty="0"/>
              <a:t>, </a:t>
            </a:r>
            <a:r>
              <a:rPr lang="en-US" sz="1800" dirty="0" err="1"/>
              <a:t>anume</a:t>
            </a:r>
            <a:r>
              <a:rPr lang="en-US" sz="1800" dirty="0"/>
              <a:t> </a:t>
            </a:r>
            <a:r>
              <a:rPr lang="en-US" sz="1800" b="1" dirty="0"/>
              <a:t>lipide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b="1" dirty="0" err="1"/>
              <a:t>zaharide</a:t>
            </a:r>
            <a:r>
              <a:rPr lang="en-US" sz="1800" dirty="0"/>
              <a:t>, care sunt </a:t>
            </a:r>
            <a:r>
              <a:rPr lang="en-US" sz="1800" dirty="0" err="1"/>
              <a:t>depozitați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b="1" dirty="0" err="1"/>
              <a:t>țesuturi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a fi </a:t>
            </a:r>
            <a:r>
              <a:rPr lang="en-US" sz="1800" dirty="0" err="1"/>
              <a:t>mobilizați</a:t>
            </a:r>
            <a:r>
              <a:rPr lang="en-US" sz="1800" dirty="0"/>
              <a:t> ulterior, la </a:t>
            </a:r>
            <a:r>
              <a:rPr lang="en-US" sz="1800" dirty="0" err="1"/>
              <a:t>nevoie</a:t>
            </a:r>
            <a:r>
              <a:rPr lang="en-US" sz="1800" dirty="0"/>
              <a:t>,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perioade</a:t>
            </a:r>
            <a:r>
              <a:rPr lang="en-US" sz="1800" dirty="0"/>
              <a:t> de </a:t>
            </a:r>
            <a:r>
              <a:rPr lang="en-US" sz="1800" dirty="0" err="1"/>
              <a:t>efort</a:t>
            </a:r>
            <a:r>
              <a:rPr lang="en-US" sz="1800" dirty="0"/>
              <a:t> </a:t>
            </a:r>
            <a:r>
              <a:rPr lang="en-US" sz="1800" dirty="0" err="1"/>
              <a:t>fizic</a:t>
            </a:r>
            <a:r>
              <a:rPr lang="en-US" sz="1800" dirty="0"/>
              <a:t> </a:t>
            </a:r>
            <a:r>
              <a:rPr lang="en-US" sz="1800" dirty="0" err="1"/>
              <a:t>sau</a:t>
            </a:r>
            <a:r>
              <a:rPr lang="en-US" sz="1800" dirty="0"/>
              <a:t> de </a:t>
            </a:r>
            <a:r>
              <a:rPr lang="en-US" sz="1800" dirty="0" err="1"/>
              <a:t>aport</a:t>
            </a:r>
            <a:r>
              <a:rPr lang="en-US" sz="1800" dirty="0"/>
              <a:t> </a:t>
            </a:r>
            <a:r>
              <a:rPr lang="en-US" sz="1800" dirty="0" err="1"/>
              <a:t>alimentar</a:t>
            </a:r>
            <a:r>
              <a:rPr lang="en-US" sz="1800" dirty="0"/>
              <a:t> </a:t>
            </a:r>
            <a:r>
              <a:rPr lang="en-US" sz="1800" dirty="0" err="1"/>
              <a:t>redus</a:t>
            </a:r>
            <a:r>
              <a:rPr lang="ro-RO" sz="1800" dirty="0"/>
              <a:t>.</a:t>
            </a:r>
            <a:endParaRPr lang="en-US" sz="1800" dirty="0"/>
          </a:p>
          <a:p>
            <a:pPr marL="0" indent="0">
              <a:buNone/>
            </a:pPr>
            <a:endParaRPr lang="ro-RO" sz="18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929FF7-3AE9-0B0E-41DC-6CDF71117AC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8" t="2455" r="11829" b="1865"/>
          <a:stretch>
            <a:fillRect/>
          </a:stretch>
        </p:blipFill>
        <p:spPr>
          <a:xfrm>
            <a:off x="9100038" y="1249563"/>
            <a:ext cx="2241283" cy="472146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C407CEB-68B5-C565-4F6B-6D5AC046A9C3}"/>
              </a:ext>
            </a:extLst>
          </p:cNvPr>
          <p:cNvSpPr txBox="1"/>
          <p:nvPr/>
        </p:nvSpPr>
        <p:spPr>
          <a:xfrm>
            <a:off x="8774724" y="5962240"/>
            <a:ext cx="3261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Tabel</a:t>
            </a:r>
            <a:r>
              <a:rPr lang="ro-RO" sz="1400" dirty="0"/>
              <a:t> -</a:t>
            </a:r>
            <a:r>
              <a:rPr lang="en-US" sz="1400" dirty="0"/>
              <a:t> </a:t>
            </a:r>
            <a:r>
              <a:rPr lang="en-US" sz="1400" dirty="0" err="1"/>
              <a:t>valoarea</a:t>
            </a:r>
            <a:r>
              <a:rPr lang="en-US" sz="1400" dirty="0"/>
              <a:t> energetic</a:t>
            </a:r>
            <a:r>
              <a:rPr lang="ro-RO" sz="1400" dirty="0"/>
              <a:t>ă a unor alimente</a:t>
            </a:r>
          </a:p>
        </p:txBody>
      </p:sp>
    </p:spTree>
    <p:extLst>
      <p:ext uri="{BB962C8B-B14F-4D97-AF65-F5344CB8AC3E}">
        <p14:creationId xmlns:p14="http://schemas.microsoft.com/office/powerpoint/2010/main" val="2831084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16E8D-F725-5549-D79B-2197F3311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9569" y="975946"/>
            <a:ext cx="10111153" cy="4677508"/>
          </a:xfrm>
        </p:spPr>
        <p:txBody>
          <a:bodyPr/>
          <a:lstStyle/>
          <a:p>
            <a:r>
              <a:rPr lang="en-US" sz="2400" dirty="0"/>
              <a:t>Din </a:t>
            </a:r>
            <a:r>
              <a:rPr lang="en-US" sz="2400" dirty="0" err="1"/>
              <a:t>punct</a:t>
            </a:r>
            <a:r>
              <a:rPr lang="en-US" sz="2400" dirty="0"/>
              <a:t> de </a:t>
            </a:r>
            <a:r>
              <a:rPr lang="en-US" sz="2400" dirty="0" err="1"/>
              <a:t>vedere</a:t>
            </a:r>
            <a:r>
              <a:rPr lang="en-US" sz="2400" dirty="0"/>
              <a:t> energetic, </a:t>
            </a:r>
            <a:r>
              <a:rPr lang="en-US" sz="2400" dirty="0" err="1"/>
              <a:t>aceste</a:t>
            </a:r>
            <a:r>
              <a:rPr lang="en-US" sz="2400" dirty="0"/>
              <a:t> </a:t>
            </a:r>
            <a:r>
              <a:rPr lang="en-US" sz="2400" dirty="0" err="1"/>
              <a:t>rezerve</a:t>
            </a:r>
            <a:r>
              <a:rPr lang="en-US" sz="2400" dirty="0"/>
              <a:t> nu sunt </a:t>
            </a:r>
            <a:r>
              <a:rPr lang="en-US" sz="2400" dirty="0" err="1"/>
              <a:t>echivalente</a:t>
            </a:r>
            <a:r>
              <a:rPr lang="en-US" sz="2400" dirty="0"/>
              <a:t>: </a:t>
            </a:r>
            <a:r>
              <a:rPr lang="en-US" sz="2400" dirty="0" err="1"/>
              <a:t>valoarea</a:t>
            </a:r>
            <a:r>
              <a:rPr lang="en-US" sz="2400" dirty="0"/>
              <a:t> </a:t>
            </a:r>
            <a:r>
              <a:rPr lang="en-US" sz="2400" dirty="0" err="1"/>
              <a:t>energetică</a:t>
            </a:r>
            <a:r>
              <a:rPr lang="en-US" sz="2400" dirty="0"/>
              <a:t> a </a:t>
            </a:r>
            <a:r>
              <a:rPr lang="en-US" sz="2400" dirty="0" err="1"/>
              <a:t>grăsimilor</a:t>
            </a:r>
            <a:r>
              <a:rPr lang="en-US" sz="2400" dirty="0"/>
              <a:t> </a:t>
            </a:r>
            <a:r>
              <a:rPr lang="en-US" sz="2400" dirty="0" err="1"/>
              <a:t>este</a:t>
            </a:r>
            <a:r>
              <a:rPr lang="en-US" sz="2400" dirty="0"/>
              <a:t> </a:t>
            </a:r>
            <a:r>
              <a:rPr lang="en-US" sz="2400" dirty="0" err="1"/>
              <a:t>dublă</a:t>
            </a:r>
            <a:r>
              <a:rPr lang="en-US" sz="2400" dirty="0"/>
              <a:t> </a:t>
            </a:r>
            <a:r>
              <a:rPr lang="en-US" sz="2400" dirty="0" err="1"/>
              <a:t>față</a:t>
            </a:r>
            <a:r>
              <a:rPr lang="en-US" sz="2400" dirty="0"/>
              <a:t> de </a:t>
            </a:r>
            <a:r>
              <a:rPr lang="en-US" sz="2400" dirty="0" err="1"/>
              <a:t>cea</a:t>
            </a:r>
            <a:r>
              <a:rPr lang="en-US" sz="2400" dirty="0"/>
              <a:t> a </a:t>
            </a:r>
            <a:r>
              <a:rPr lang="en-US" sz="2400" dirty="0" err="1"/>
              <a:t>proteinelor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a </a:t>
            </a:r>
            <a:r>
              <a:rPr lang="en-US" sz="2400" dirty="0" err="1"/>
              <a:t>glucidelor</a:t>
            </a:r>
            <a:r>
              <a:rPr lang="en-US" sz="2400" dirty="0"/>
              <a:t>.</a:t>
            </a:r>
            <a:br>
              <a:rPr lang="ro-RO" sz="2400" b="1" dirty="0"/>
            </a:br>
            <a:r>
              <a:rPr lang="ro-RO" sz="2400" b="1" dirty="0"/>
              <a:t>	</a:t>
            </a:r>
            <a:r>
              <a:rPr lang="en-US" sz="2400" b="1" dirty="0" err="1"/>
              <a:t>Recomandări</a:t>
            </a:r>
            <a:r>
              <a:rPr lang="en-US" sz="2400" b="1" dirty="0"/>
              <a:t> </a:t>
            </a:r>
            <a:r>
              <a:rPr lang="en-US" sz="2400" b="1" dirty="0" err="1"/>
              <a:t>dietetice</a:t>
            </a:r>
            <a:r>
              <a:rPr lang="en-US" sz="2400" b="1" dirty="0"/>
              <a:t>:</a:t>
            </a:r>
            <a:r>
              <a:rPr lang="en-US" sz="2400" dirty="0"/>
              <a:t> O </a:t>
            </a:r>
            <a:r>
              <a:rPr lang="en-US" sz="2400" dirty="0" err="1"/>
              <a:t>persoană</a:t>
            </a:r>
            <a:r>
              <a:rPr lang="en-US" sz="2400" dirty="0"/>
              <a:t> </a:t>
            </a:r>
            <a:r>
              <a:rPr lang="en-US" sz="2400" dirty="0" err="1"/>
              <a:t>supraponderală</a:t>
            </a:r>
            <a:r>
              <a:rPr lang="en-US" sz="2400" dirty="0"/>
              <a:t> </a:t>
            </a:r>
            <a:r>
              <a:rPr lang="en-US" sz="2400" dirty="0" err="1"/>
              <a:t>ar</a:t>
            </a:r>
            <a:r>
              <a:rPr lang="en-US" sz="2400" dirty="0"/>
              <a:t> </a:t>
            </a:r>
            <a:r>
              <a:rPr lang="en-US" sz="2400" dirty="0" err="1"/>
              <a:t>trebui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consume cu </a:t>
            </a:r>
            <a:r>
              <a:rPr lang="en-US" sz="2400" dirty="0" err="1"/>
              <a:t>precădere</a:t>
            </a:r>
            <a:r>
              <a:rPr lang="en-US" sz="2400" dirty="0"/>
              <a:t> </a:t>
            </a:r>
            <a:r>
              <a:rPr lang="en-US" sz="2400" dirty="0" err="1"/>
              <a:t>alimente</a:t>
            </a:r>
            <a:r>
              <a:rPr lang="en-US" sz="2400" dirty="0"/>
              <a:t> </a:t>
            </a:r>
            <a:r>
              <a:rPr lang="en-US" sz="2400" dirty="0" err="1"/>
              <a:t>bogate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proteine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glucide </a:t>
            </a:r>
            <a:r>
              <a:rPr lang="en-US" sz="2400" dirty="0" err="1"/>
              <a:t>și</a:t>
            </a:r>
            <a:r>
              <a:rPr lang="en-US" sz="2400" dirty="0"/>
              <a:t> </a:t>
            </a:r>
            <a:r>
              <a:rPr lang="en-US" sz="2400" dirty="0" err="1"/>
              <a:t>să</a:t>
            </a:r>
            <a:r>
              <a:rPr lang="en-US" sz="2400" dirty="0"/>
              <a:t> evite </a:t>
            </a:r>
            <a:r>
              <a:rPr lang="en-US" sz="2400" dirty="0" err="1"/>
              <a:t>alimentele</a:t>
            </a:r>
            <a:r>
              <a:rPr lang="en-US" sz="2400" dirty="0"/>
              <a:t> cu un </a:t>
            </a:r>
            <a:r>
              <a:rPr lang="en-US" sz="2400" dirty="0" err="1"/>
              <a:t>conținut</a:t>
            </a:r>
            <a:r>
              <a:rPr lang="en-US" sz="2400" dirty="0"/>
              <a:t> </a:t>
            </a:r>
            <a:r>
              <a:rPr lang="en-US" sz="2400" dirty="0" err="1"/>
              <a:t>ridicat</a:t>
            </a:r>
            <a:r>
              <a:rPr lang="en-US" sz="2400" dirty="0"/>
              <a:t> de </a:t>
            </a:r>
            <a:r>
              <a:rPr lang="en-US" sz="2400" dirty="0" err="1"/>
              <a:t>grăsimi</a:t>
            </a:r>
            <a:r>
              <a:rPr lang="en-US" sz="2400" dirty="0"/>
              <a:t>, </a:t>
            </a:r>
            <a:r>
              <a:rPr lang="en-US" sz="2400" dirty="0" err="1"/>
              <a:t>pentru</a:t>
            </a:r>
            <a:r>
              <a:rPr lang="en-US" sz="2400" dirty="0"/>
              <a:t> a reduce </a:t>
            </a:r>
            <a:r>
              <a:rPr lang="en-US" sz="2400" dirty="0" err="1"/>
              <a:t>aportul</a:t>
            </a:r>
            <a:r>
              <a:rPr lang="en-US" sz="2400" dirty="0"/>
              <a:t> caloric total.</a:t>
            </a:r>
            <a:br>
              <a:rPr lang="en-US" sz="2400" dirty="0"/>
            </a:br>
            <a:r>
              <a:rPr lang="ro-RO" sz="2400" dirty="0"/>
              <a:t>	</a:t>
            </a:r>
            <a:r>
              <a:rPr lang="en-US" sz="2400" b="1" dirty="0" err="1"/>
              <a:t>Consecințele</a:t>
            </a:r>
            <a:r>
              <a:rPr lang="en-US" sz="2400" b="1" dirty="0"/>
              <a:t> </a:t>
            </a:r>
            <a:r>
              <a:rPr lang="en-US" sz="2400" b="1" dirty="0" err="1"/>
              <a:t>sedentarismului</a:t>
            </a:r>
            <a:r>
              <a:rPr lang="en-US" sz="2400" b="1" dirty="0"/>
              <a:t>:</a:t>
            </a:r>
            <a:r>
              <a:rPr lang="en-US" sz="2400" dirty="0"/>
              <a:t> Un </a:t>
            </a:r>
            <a:r>
              <a:rPr lang="en-US" sz="2400" dirty="0" err="1"/>
              <a:t>stil</a:t>
            </a:r>
            <a:r>
              <a:rPr lang="en-US" sz="2400" dirty="0"/>
              <a:t> de </a:t>
            </a:r>
            <a:r>
              <a:rPr lang="en-US" sz="2400" dirty="0" err="1"/>
              <a:t>viață</a:t>
            </a:r>
            <a:r>
              <a:rPr lang="en-US" sz="2400" dirty="0"/>
              <a:t> </a:t>
            </a:r>
            <a:r>
              <a:rPr lang="en-US" sz="2400" dirty="0" err="1"/>
              <a:t>sedentar</a:t>
            </a:r>
            <a:r>
              <a:rPr lang="en-US" sz="2400" dirty="0"/>
              <a:t>, </a:t>
            </a:r>
            <a:r>
              <a:rPr lang="en-US" sz="2400" dirty="0" err="1"/>
              <a:t>combinat</a:t>
            </a:r>
            <a:r>
              <a:rPr lang="en-US" sz="2400" dirty="0"/>
              <a:t> cu o </a:t>
            </a:r>
            <a:r>
              <a:rPr lang="en-US" sz="2400" dirty="0" err="1"/>
              <a:t>dietă</a:t>
            </a:r>
            <a:r>
              <a:rPr lang="en-US" sz="2400" dirty="0"/>
              <a:t> </a:t>
            </a:r>
            <a:r>
              <a:rPr lang="en-US" sz="2400" dirty="0" err="1"/>
              <a:t>necontrolată</a:t>
            </a:r>
            <a:r>
              <a:rPr lang="en-US" sz="2400" dirty="0"/>
              <a:t> </a:t>
            </a:r>
            <a:r>
              <a:rPr lang="en-US" sz="2400" dirty="0" err="1"/>
              <a:t>și</a:t>
            </a:r>
            <a:r>
              <a:rPr lang="en-US" sz="2400" dirty="0"/>
              <a:t> un </a:t>
            </a:r>
            <a:r>
              <a:rPr lang="en-US" sz="2400" dirty="0" err="1"/>
              <a:t>aport</a:t>
            </a:r>
            <a:r>
              <a:rPr lang="en-US" sz="2400" dirty="0"/>
              <a:t> caloric </a:t>
            </a:r>
            <a:r>
              <a:rPr lang="en-US" sz="2400" dirty="0" err="1"/>
              <a:t>excesiv</a:t>
            </a:r>
            <a:r>
              <a:rPr lang="en-US" sz="2400" dirty="0"/>
              <a:t>, conduce </a:t>
            </a:r>
            <a:r>
              <a:rPr lang="en-US" sz="2400" dirty="0" err="1"/>
              <a:t>inevitabil</a:t>
            </a:r>
            <a:r>
              <a:rPr lang="en-US" sz="2400" dirty="0"/>
              <a:t> la </a:t>
            </a:r>
            <a:r>
              <a:rPr lang="en-US" sz="2400" dirty="0" err="1"/>
              <a:t>acumularea</a:t>
            </a:r>
            <a:r>
              <a:rPr lang="en-US" sz="2400" dirty="0"/>
              <a:t> de lipide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țesuturi</a:t>
            </a:r>
            <a:r>
              <a:rPr lang="en-US" sz="2400" dirty="0"/>
              <a:t>, </a:t>
            </a:r>
            <a:r>
              <a:rPr lang="en-US" sz="2400" dirty="0" err="1"/>
              <a:t>favorizând</a:t>
            </a:r>
            <a:r>
              <a:rPr lang="en-US" sz="2400" dirty="0"/>
              <a:t> </a:t>
            </a:r>
            <a:r>
              <a:rPr lang="en-US" sz="2400" dirty="0" err="1"/>
              <a:t>creșterea</a:t>
            </a:r>
            <a:r>
              <a:rPr lang="en-US" sz="2400" dirty="0"/>
              <a:t> </a:t>
            </a:r>
            <a:r>
              <a:rPr lang="en-US" sz="2400" dirty="0" err="1"/>
              <a:t>în</a:t>
            </a:r>
            <a:r>
              <a:rPr lang="en-US" sz="2400" dirty="0"/>
              <a:t> </a:t>
            </a:r>
            <a:r>
              <a:rPr lang="en-US" sz="2400" dirty="0" err="1"/>
              <a:t>greutate</a:t>
            </a:r>
            <a:r>
              <a:rPr lang="en-US" sz="2400" dirty="0"/>
              <a:t>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07AC1F3-FBD2-24FF-608E-1D301D27921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200" y="6400904"/>
            <a:ext cx="365760" cy="246888"/>
          </a:xfrm>
        </p:spPr>
        <p:txBody>
          <a:bodyPr/>
          <a:lstStyle/>
          <a:p>
            <a:fld id="{8D0AFDD5-844D-364D-8AEC-50CF4D36D55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288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AF6260-D524-D82E-5D26-EDE29E037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692A67F1-DBE5-308A-26C2-B429AFF23D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9952" y="512064"/>
            <a:ext cx="9912096" cy="737499"/>
          </a:xfrm>
        </p:spPr>
        <p:txBody>
          <a:bodyPr/>
          <a:lstStyle/>
          <a:p>
            <a:r>
              <a:rPr lang="pt-BR" sz="4400" dirty="0"/>
              <a:t>Metabolismul</a:t>
            </a:r>
            <a:endParaRPr lang="en-US" sz="4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480C37-07E0-65CB-69D3-DC35044E6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059DFDE-ACE3-20E4-7E7F-9B0605E04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632" y="3270263"/>
            <a:ext cx="5611368" cy="1090950"/>
          </a:xfrm>
        </p:spPr>
        <p:txBody>
          <a:bodyPr/>
          <a:lstStyle/>
          <a:p>
            <a:pPr marL="0" indent="0">
              <a:buNone/>
            </a:pPr>
            <a:r>
              <a:rPr lang="en-US" sz="1800" dirty="0"/>
              <a:t>• </a:t>
            </a:r>
            <a:r>
              <a:rPr lang="en-US" sz="1800" b="1" dirty="0"/>
              <a:t>Catabolism (</a:t>
            </a:r>
            <a:r>
              <a:rPr lang="en-US" sz="1800" b="1" dirty="0" err="1"/>
              <a:t>dezasimilare</a:t>
            </a:r>
            <a:r>
              <a:rPr lang="en-US" sz="1800" b="1" dirty="0"/>
              <a:t>):</a:t>
            </a:r>
            <a:r>
              <a:rPr lang="en-US" sz="1800" dirty="0"/>
              <a:t> Include </a:t>
            </a:r>
            <a:r>
              <a:rPr lang="en-US" sz="1800" dirty="0" err="1"/>
              <a:t>totalitatea</a:t>
            </a:r>
            <a:r>
              <a:rPr lang="en-US" sz="1800" dirty="0"/>
              <a:t> </a:t>
            </a:r>
            <a:r>
              <a:rPr lang="en-US" sz="1800" dirty="0" err="1"/>
              <a:t>proceselor</a:t>
            </a:r>
            <a:r>
              <a:rPr lang="en-US" sz="1800" dirty="0"/>
              <a:t> de </a:t>
            </a:r>
            <a:r>
              <a:rPr lang="en-US" sz="1800" dirty="0" err="1"/>
              <a:t>degradare</a:t>
            </a:r>
            <a:r>
              <a:rPr lang="en-US" sz="1800" dirty="0"/>
              <a:t> a </a:t>
            </a:r>
            <a:r>
              <a:rPr lang="en-US" sz="1800" dirty="0" err="1"/>
              <a:t>moleculelor</a:t>
            </a:r>
            <a:r>
              <a:rPr lang="en-US" sz="1800" dirty="0"/>
              <a:t> </a:t>
            </a:r>
            <a:r>
              <a:rPr lang="en-US" sz="1800" dirty="0" err="1"/>
              <a:t>complexe</a:t>
            </a:r>
            <a:r>
              <a:rPr lang="en-US" sz="1800" dirty="0"/>
              <a:t> (precum </a:t>
            </a:r>
            <a:r>
              <a:rPr lang="en-US" sz="1800" dirty="0" err="1"/>
              <a:t>glucidele</a:t>
            </a:r>
            <a:r>
              <a:rPr lang="en-US" sz="1800" dirty="0"/>
              <a:t>, </a:t>
            </a:r>
            <a:r>
              <a:rPr lang="en-US" sz="1800" dirty="0" err="1"/>
              <a:t>lipidele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proteinele</a:t>
            </a:r>
            <a:r>
              <a:rPr lang="en-US" sz="1800" dirty="0"/>
              <a:t>) </a:t>
            </a:r>
            <a:r>
              <a:rPr lang="en-US" sz="1800" dirty="0" err="1"/>
              <a:t>în</a:t>
            </a:r>
            <a:r>
              <a:rPr lang="en-US" sz="1800" dirty="0"/>
              <a:t> molecule </a:t>
            </a:r>
            <a:r>
              <a:rPr lang="en-US" sz="1800" dirty="0" err="1"/>
              <a:t>mai</a:t>
            </a:r>
            <a:r>
              <a:rPr lang="en-US" sz="1800" dirty="0"/>
              <a:t> simple. </a:t>
            </a:r>
            <a:r>
              <a:rPr lang="en-US" sz="1800" dirty="0" err="1"/>
              <a:t>Aceste</a:t>
            </a:r>
            <a:r>
              <a:rPr lang="en-US" sz="1800" dirty="0"/>
              <a:t> </a:t>
            </a:r>
            <a:r>
              <a:rPr lang="en-US" sz="1800" dirty="0" err="1"/>
              <a:t>reacții</a:t>
            </a:r>
            <a:r>
              <a:rPr lang="en-US" sz="1800" dirty="0"/>
              <a:t> sunt </a:t>
            </a:r>
            <a:r>
              <a:rPr lang="en-US" sz="1800" dirty="0" err="1"/>
              <a:t>exoterme</a:t>
            </a:r>
            <a:r>
              <a:rPr lang="en-US" sz="1800" dirty="0"/>
              <a:t>, </a:t>
            </a:r>
            <a:r>
              <a:rPr lang="en-US" sz="1800" b="1" dirty="0" err="1"/>
              <a:t>eliberând</a:t>
            </a:r>
            <a:r>
              <a:rPr lang="en-US" sz="1800" b="1" dirty="0"/>
              <a:t> </a:t>
            </a:r>
            <a:r>
              <a:rPr lang="en-US" sz="1800" b="1" dirty="0" err="1"/>
              <a:t>energia</a:t>
            </a:r>
            <a:r>
              <a:rPr lang="en-US" sz="1800" dirty="0"/>
              <a:t> </a:t>
            </a:r>
            <a:r>
              <a:rPr lang="en-US" sz="1800" dirty="0" err="1"/>
              <a:t>stocată</a:t>
            </a:r>
            <a:r>
              <a:rPr lang="en-US" sz="1800" dirty="0"/>
              <a:t> </a:t>
            </a:r>
            <a:r>
              <a:rPr lang="en-US" sz="1800" dirty="0" err="1"/>
              <a:t>în</a:t>
            </a:r>
            <a:r>
              <a:rPr lang="en-US" sz="1800" dirty="0"/>
              <a:t> </a:t>
            </a:r>
            <a:r>
              <a:rPr lang="en-US" sz="1800" dirty="0" err="1"/>
              <a:t>legăturile</a:t>
            </a:r>
            <a:r>
              <a:rPr lang="en-US" sz="1800" dirty="0"/>
              <a:t> </a:t>
            </a:r>
            <a:r>
              <a:rPr lang="en-US" sz="1800" dirty="0" err="1"/>
              <a:t>chimice</a:t>
            </a:r>
            <a:r>
              <a:rPr lang="en-US" sz="1800" dirty="0"/>
              <a:t>.</a:t>
            </a:r>
          </a:p>
        </p:txBody>
      </p:sp>
      <p:sp>
        <p:nvSpPr>
          <p:cNvPr id="3" name="Content Placeholder 5">
            <a:extLst>
              <a:ext uri="{FF2B5EF4-FFF2-40B4-BE49-F238E27FC236}">
                <a16:creationId xmlns:a16="http://schemas.microsoft.com/office/drawing/2014/main" id="{CAF8ABFA-07DA-EDD7-F0D9-25CAFF054147}"/>
              </a:ext>
            </a:extLst>
          </p:cNvPr>
          <p:cNvSpPr txBox="1">
            <a:spLocks/>
          </p:cNvSpPr>
          <p:nvPr/>
        </p:nvSpPr>
        <p:spPr>
          <a:xfrm>
            <a:off x="6096000" y="3198995"/>
            <a:ext cx="5611368" cy="146902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• </a:t>
            </a:r>
            <a:r>
              <a:rPr lang="en-US" sz="1800" b="1" dirty="0"/>
              <a:t>Anabolism (</a:t>
            </a:r>
            <a:r>
              <a:rPr lang="en-US" sz="1800" b="1" dirty="0" err="1"/>
              <a:t>asimilare</a:t>
            </a:r>
            <a:r>
              <a:rPr lang="en-US" sz="1800" b="1" dirty="0"/>
              <a:t>):</a:t>
            </a:r>
            <a:r>
              <a:rPr lang="en-US" sz="1800" dirty="0"/>
              <a:t> </a:t>
            </a:r>
            <a:r>
              <a:rPr lang="en-US" sz="1800" dirty="0" err="1"/>
              <a:t>Reprezintă</a:t>
            </a:r>
            <a:r>
              <a:rPr lang="en-US" sz="1800" dirty="0"/>
              <a:t> </a:t>
            </a:r>
            <a:r>
              <a:rPr lang="en-US" sz="1800" dirty="0" err="1"/>
              <a:t>ansamblul</a:t>
            </a:r>
            <a:r>
              <a:rPr lang="en-US" sz="1800" dirty="0"/>
              <a:t> </a:t>
            </a:r>
            <a:r>
              <a:rPr lang="en-US" sz="1800" dirty="0" err="1"/>
              <a:t>proceselor</a:t>
            </a:r>
            <a:r>
              <a:rPr lang="en-US" sz="1800" dirty="0"/>
              <a:t> de </a:t>
            </a:r>
            <a:r>
              <a:rPr lang="en-US" sz="1800" dirty="0" err="1"/>
              <a:t>sinteză</a:t>
            </a:r>
            <a:r>
              <a:rPr lang="en-US" sz="1800" dirty="0"/>
              <a:t> a </a:t>
            </a:r>
            <a:r>
              <a:rPr lang="en-US" sz="1800" dirty="0" err="1"/>
              <a:t>macromoleculelor</a:t>
            </a:r>
            <a:r>
              <a:rPr lang="en-US" sz="1800" dirty="0"/>
              <a:t> </a:t>
            </a:r>
            <a:r>
              <a:rPr lang="en-US" sz="1800" dirty="0" err="1"/>
              <a:t>complexe</a:t>
            </a:r>
            <a:r>
              <a:rPr lang="en-US" sz="1800" dirty="0"/>
              <a:t> (ex: </a:t>
            </a:r>
            <a:r>
              <a:rPr lang="en-US" sz="1800" dirty="0" err="1"/>
              <a:t>proteine</a:t>
            </a:r>
            <a:r>
              <a:rPr lang="en-US" sz="1800" dirty="0"/>
              <a:t>, </a:t>
            </a:r>
            <a:r>
              <a:rPr lang="en-US" sz="1800" dirty="0" err="1"/>
              <a:t>acizi</a:t>
            </a:r>
            <a:r>
              <a:rPr lang="en-US" sz="1800" dirty="0"/>
              <a:t> </a:t>
            </a:r>
            <a:r>
              <a:rPr lang="en-US" sz="1800" dirty="0" err="1"/>
              <a:t>nucleici</a:t>
            </a:r>
            <a:r>
              <a:rPr lang="en-US" sz="1800" dirty="0"/>
              <a:t>) </a:t>
            </a:r>
            <a:r>
              <a:rPr lang="en-US" sz="1800" dirty="0" err="1"/>
              <a:t>pornind</a:t>
            </a:r>
            <a:r>
              <a:rPr lang="en-US" sz="1800" dirty="0"/>
              <a:t> de la </a:t>
            </a:r>
            <a:r>
              <a:rPr lang="en-US" sz="1800" dirty="0" err="1"/>
              <a:t>precursori</a:t>
            </a:r>
            <a:r>
              <a:rPr lang="en-US" sz="1800" dirty="0"/>
              <a:t> </a:t>
            </a:r>
            <a:r>
              <a:rPr lang="en-US" sz="1800" dirty="0" err="1"/>
              <a:t>simpli</a:t>
            </a:r>
            <a:r>
              <a:rPr lang="en-US" sz="1800" dirty="0"/>
              <a:t>. </a:t>
            </a:r>
            <a:r>
              <a:rPr lang="en-US" sz="1800" dirty="0" err="1"/>
              <a:t>Aceste</a:t>
            </a:r>
            <a:r>
              <a:rPr lang="en-US" sz="1800" dirty="0"/>
              <a:t> </a:t>
            </a:r>
            <a:r>
              <a:rPr lang="en-US" sz="1800" dirty="0" err="1"/>
              <a:t>reacții</a:t>
            </a:r>
            <a:r>
              <a:rPr lang="en-US" sz="1800" dirty="0"/>
              <a:t> sunt </a:t>
            </a:r>
            <a:r>
              <a:rPr lang="en-US" sz="1800" dirty="0" err="1"/>
              <a:t>endoterme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b="1" dirty="0" err="1"/>
              <a:t>consumă</a:t>
            </a:r>
            <a:r>
              <a:rPr lang="en-US" sz="1800" b="1" dirty="0"/>
              <a:t> </a:t>
            </a:r>
            <a:r>
              <a:rPr lang="en-US" sz="1800" b="1" dirty="0" err="1"/>
              <a:t>energia</a:t>
            </a:r>
            <a:r>
              <a:rPr lang="en-US" sz="1800" b="1" dirty="0"/>
              <a:t> </a:t>
            </a:r>
            <a:r>
              <a:rPr lang="en-US" sz="1800" b="1" dirty="0" err="1"/>
              <a:t>eliberată</a:t>
            </a:r>
            <a:r>
              <a:rPr lang="en-US" sz="1800" b="1" dirty="0"/>
              <a:t> de </a:t>
            </a:r>
            <a:r>
              <a:rPr lang="en-US" sz="1800" b="1" dirty="0" err="1"/>
              <a:t>procesele</a:t>
            </a:r>
            <a:r>
              <a:rPr lang="en-US" sz="1800" b="1" dirty="0"/>
              <a:t> </a:t>
            </a:r>
            <a:r>
              <a:rPr lang="en-US" sz="1800" b="1" dirty="0" err="1"/>
              <a:t>catabolice</a:t>
            </a:r>
            <a:r>
              <a:rPr lang="en-US" sz="1800" dirty="0"/>
              <a:t>, </a:t>
            </a:r>
            <a:r>
              <a:rPr lang="en-US" sz="1800" dirty="0" err="1"/>
              <a:t>energie</a:t>
            </a:r>
            <a:r>
              <a:rPr lang="en-US" sz="1800" dirty="0"/>
              <a:t> </a:t>
            </a:r>
            <a:r>
              <a:rPr lang="en-US" sz="1800" dirty="0" err="1"/>
              <a:t>furnizată</a:t>
            </a:r>
            <a:r>
              <a:rPr lang="en-US" sz="1800" dirty="0"/>
              <a:t>, </a:t>
            </a:r>
            <a:r>
              <a:rPr lang="en-US" sz="1800" dirty="0" err="1"/>
              <a:t>în</a:t>
            </a:r>
            <a:r>
              <a:rPr lang="en-US" sz="1800" dirty="0"/>
              <a:t> principal, de </a:t>
            </a:r>
            <a:r>
              <a:rPr lang="en-US" sz="1800" dirty="0" err="1"/>
              <a:t>hidroliza</a:t>
            </a:r>
            <a:r>
              <a:rPr lang="en-US" sz="1800" dirty="0"/>
              <a:t> ATP.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76196ED1-EF05-F27F-C975-B889577F027B}"/>
              </a:ext>
            </a:extLst>
          </p:cNvPr>
          <p:cNvSpPr txBox="1">
            <a:spLocks/>
          </p:cNvSpPr>
          <p:nvPr/>
        </p:nvSpPr>
        <p:spPr>
          <a:xfrm>
            <a:off x="484633" y="1621386"/>
            <a:ext cx="11367398" cy="109095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err="1"/>
              <a:t>Metabolismul</a:t>
            </a:r>
            <a:r>
              <a:rPr lang="en-US" sz="1800" dirty="0"/>
              <a:t> </a:t>
            </a:r>
            <a:r>
              <a:rPr lang="en-US" sz="1800" dirty="0" err="1"/>
              <a:t>reprezintă</a:t>
            </a:r>
            <a:r>
              <a:rPr lang="en-US" sz="1800" dirty="0"/>
              <a:t> </a:t>
            </a:r>
            <a:r>
              <a:rPr lang="en-US" sz="1800" dirty="0" err="1"/>
              <a:t>suma</a:t>
            </a:r>
            <a:r>
              <a:rPr lang="en-US" sz="1800" dirty="0"/>
              <a:t> </a:t>
            </a:r>
            <a:r>
              <a:rPr lang="en-US" sz="1800" dirty="0" err="1"/>
              <a:t>tuturor</a:t>
            </a:r>
            <a:r>
              <a:rPr lang="en-US" sz="1800" dirty="0"/>
              <a:t> </a:t>
            </a:r>
            <a:r>
              <a:rPr lang="en-US" sz="1800" dirty="0" err="1"/>
              <a:t>proceselor</a:t>
            </a:r>
            <a:r>
              <a:rPr lang="en-US" sz="1800" dirty="0"/>
              <a:t> </a:t>
            </a:r>
            <a:r>
              <a:rPr lang="en-US" sz="1800" dirty="0" err="1"/>
              <a:t>chimice</a:t>
            </a:r>
            <a:r>
              <a:rPr lang="en-US" sz="1800" dirty="0"/>
              <a:t> care au loc </a:t>
            </a:r>
            <a:r>
              <a:rPr lang="en-US" sz="1800" dirty="0" err="1"/>
              <a:t>într</a:t>
            </a:r>
            <a:r>
              <a:rPr lang="en-US" sz="1800" dirty="0"/>
              <a:t>-un organism </a:t>
            </a:r>
            <a:r>
              <a:rPr lang="en-US" sz="1800" dirty="0" err="1"/>
              <a:t>viu</a:t>
            </a:r>
            <a:r>
              <a:rPr lang="en-US" sz="1800" dirty="0"/>
              <a:t> </a:t>
            </a:r>
            <a:r>
              <a:rPr lang="en-US" sz="1800" dirty="0" err="1"/>
              <a:t>pentru</a:t>
            </a:r>
            <a:r>
              <a:rPr lang="en-US" sz="1800" dirty="0"/>
              <a:t> a </a:t>
            </a:r>
            <a:r>
              <a:rPr lang="en-US" sz="1800" dirty="0" err="1"/>
              <a:t>susține</a:t>
            </a:r>
            <a:r>
              <a:rPr lang="en-US" sz="1800" dirty="0"/>
              <a:t> </a:t>
            </a:r>
            <a:r>
              <a:rPr lang="en-US" sz="1800" dirty="0" err="1"/>
              <a:t>viața</a:t>
            </a:r>
            <a:r>
              <a:rPr lang="en-US" sz="1800" dirty="0"/>
              <a:t>. </a:t>
            </a:r>
            <a:r>
              <a:rPr lang="en-US" sz="1800" dirty="0" err="1"/>
              <a:t>Acesta</a:t>
            </a:r>
            <a:r>
              <a:rPr lang="en-US" sz="1800" dirty="0"/>
              <a:t> </a:t>
            </a:r>
            <a:r>
              <a:rPr lang="en-US" sz="1800" dirty="0" err="1"/>
              <a:t>este</a:t>
            </a:r>
            <a:r>
              <a:rPr lang="en-US" sz="1800" dirty="0"/>
              <a:t> </a:t>
            </a:r>
            <a:r>
              <a:rPr lang="en-US" sz="1800" dirty="0" err="1"/>
              <a:t>alcătuit</a:t>
            </a:r>
            <a:r>
              <a:rPr lang="en-US" sz="1800" dirty="0"/>
              <a:t> din </a:t>
            </a:r>
            <a:r>
              <a:rPr lang="en-US" sz="1800" dirty="0" err="1"/>
              <a:t>două</a:t>
            </a:r>
            <a:r>
              <a:rPr lang="en-US" sz="1800" dirty="0"/>
              <a:t> </a:t>
            </a:r>
            <a:r>
              <a:rPr lang="en-US" sz="1800" dirty="0" err="1"/>
              <a:t>ramuri</a:t>
            </a:r>
            <a:r>
              <a:rPr lang="en-US" sz="1800" dirty="0"/>
              <a:t> </a:t>
            </a:r>
            <a:r>
              <a:rPr lang="en-US" sz="1800" dirty="0" err="1"/>
              <a:t>antagonice</a:t>
            </a:r>
            <a:r>
              <a:rPr lang="en-US" sz="1800" dirty="0"/>
              <a:t>, </a:t>
            </a:r>
            <a:r>
              <a:rPr lang="en-US" sz="1800" dirty="0" err="1"/>
              <a:t>dar</a:t>
            </a:r>
            <a:r>
              <a:rPr lang="en-US" sz="1800" dirty="0"/>
              <a:t> </a:t>
            </a:r>
            <a:r>
              <a:rPr lang="en-US" sz="1800" dirty="0" err="1"/>
              <a:t>strâns</a:t>
            </a:r>
            <a:r>
              <a:rPr lang="en-US" sz="1800" dirty="0"/>
              <a:t> </a:t>
            </a:r>
            <a:r>
              <a:rPr lang="en-US" sz="1800" dirty="0" err="1"/>
              <a:t>interdependente</a:t>
            </a:r>
            <a:r>
              <a:rPr lang="en-US" sz="1800" dirty="0"/>
              <a:t>, care </a:t>
            </a:r>
            <a:r>
              <a:rPr lang="en-US" sz="1800" dirty="0" err="1"/>
              <a:t>asigură</a:t>
            </a:r>
            <a:r>
              <a:rPr lang="en-US" sz="1800" dirty="0"/>
              <a:t> un </a:t>
            </a:r>
            <a:r>
              <a:rPr lang="en-US" sz="1800" dirty="0" err="1"/>
              <a:t>echilibru</a:t>
            </a:r>
            <a:r>
              <a:rPr lang="en-US" sz="1800" dirty="0"/>
              <a:t> </a:t>
            </a:r>
            <a:r>
              <a:rPr lang="en-US" sz="1800" dirty="0" err="1"/>
              <a:t>dinamic</a:t>
            </a:r>
            <a:r>
              <a:rPr lang="en-US" sz="1800" dirty="0"/>
              <a:t> </a:t>
            </a:r>
            <a:r>
              <a:rPr lang="en-US" sz="1800" dirty="0" err="1"/>
              <a:t>între</a:t>
            </a:r>
            <a:r>
              <a:rPr lang="en-US" sz="1800" dirty="0"/>
              <a:t> </a:t>
            </a:r>
            <a:r>
              <a:rPr lang="en-US" sz="1800" dirty="0" err="1"/>
              <a:t>descompunere</a:t>
            </a:r>
            <a:r>
              <a:rPr lang="en-US" sz="1800" dirty="0"/>
              <a:t> </a:t>
            </a:r>
            <a:r>
              <a:rPr lang="en-US" sz="1800" dirty="0" err="1"/>
              <a:t>și</a:t>
            </a:r>
            <a:r>
              <a:rPr lang="en-US" sz="1800" dirty="0"/>
              <a:t> </a:t>
            </a:r>
            <a:r>
              <a:rPr lang="en-US" sz="1800" dirty="0" err="1"/>
              <a:t>sinteză</a:t>
            </a:r>
            <a:r>
              <a:rPr lang="en-US" sz="1800" dirty="0"/>
              <a:t>.</a:t>
            </a:r>
            <a:endParaRPr lang="ro-RO" sz="1800" dirty="0"/>
          </a:p>
          <a:p>
            <a:pPr marL="0" indent="0">
              <a:buNone/>
            </a:pPr>
            <a:r>
              <a:rPr lang="ro-RO" sz="1800" dirty="0"/>
              <a:t>	</a:t>
            </a:r>
            <a:r>
              <a:rPr lang="en-US" sz="1800" dirty="0"/>
              <a:t>Cele </a:t>
            </a:r>
            <a:r>
              <a:rPr lang="en-US" sz="1800" dirty="0" err="1"/>
              <a:t>două</a:t>
            </a:r>
            <a:r>
              <a:rPr lang="en-US" sz="1800" dirty="0"/>
              <a:t> </a:t>
            </a:r>
            <a:r>
              <a:rPr lang="en-US" sz="1800" dirty="0" err="1"/>
              <a:t>procese</a:t>
            </a:r>
            <a:r>
              <a:rPr lang="en-US" sz="1800" dirty="0"/>
              <a:t> </a:t>
            </a:r>
            <a:r>
              <a:rPr lang="en-US" sz="1800" dirty="0" err="1"/>
              <a:t>metabolice</a:t>
            </a:r>
            <a:r>
              <a:rPr lang="en-US" sz="1800" dirty="0"/>
              <a:t> </a:t>
            </a:r>
            <a:r>
              <a:rPr lang="en-US" sz="1800" dirty="0" err="1"/>
              <a:t>fundamentale</a:t>
            </a:r>
            <a:r>
              <a:rPr lang="en-US" sz="1800" dirty="0"/>
              <a:t> sunt:</a:t>
            </a:r>
          </a:p>
        </p:txBody>
      </p:sp>
    </p:spTree>
    <p:extLst>
      <p:ext uri="{BB962C8B-B14F-4D97-AF65-F5344CB8AC3E}">
        <p14:creationId xmlns:p14="http://schemas.microsoft.com/office/powerpoint/2010/main" val="2964663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27FB49D-70BC-8BD7-DD62-C2868B0C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sz="4400" dirty="0"/>
              <a:t>Metabolismul</a:t>
            </a:r>
            <a:endParaRPr lang="en-US" sz="4400" dirty="0"/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AA30FCA2-80C6-CF3C-F17C-360C7DCD8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234609-FE0C-B3A6-04C6-B8689E34B09F}"/>
              </a:ext>
            </a:extLst>
          </p:cNvPr>
          <p:cNvSpPr txBox="1"/>
          <p:nvPr/>
        </p:nvSpPr>
        <p:spPr>
          <a:xfrm>
            <a:off x="838201" y="1527048"/>
            <a:ext cx="1002909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	Metabolismul glucidelor este un exemplu central de cale </a:t>
            </a:r>
            <a:r>
              <a:rPr lang="ro-RO" dirty="0" err="1">
                <a:solidFill>
                  <a:schemeClr val="bg1"/>
                </a:solidFill>
              </a:rPr>
              <a:t>catabolică</a:t>
            </a:r>
            <a:r>
              <a:rPr lang="ro-RO" dirty="0">
                <a:solidFill>
                  <a:schemeClr val="bg1"/>
                </a:solidFill>
              </a:rPr>
              <a:t>. Degradarea glucozei, principalul combustibil celular, se desfășoară în două faze distincte:</a:t>
            </a:r>
          </a:p>
          <a:p>
            <a:r>
              <a:rPr lang="ro-RO" dirty="0">
                <a:solidFill>
                  <a:schemeClr val="bg1"/>
                </a:solidFill>
              </a:rPr>
              <a:t>	1. Degradare anaerobă (fără oxigen)		2. Degradare aerobă (în prezența oxigenului)</a:t>
            </a:r>
          </a:p>
          <a:p>
            <a:r>
              <a:rPr lang="ro-RO" dirty="0">
                <a:solidFill>
                  <a:schemeClr val="bg1"/>
                </a:solidFill>
              </a:rPr>
              <a:t>			Schema generală a acestui proces este următoarea:</a:t>
            </a:r>
          </a:p>
          <a:p>
            <a:r>
              <a:rPr lang="ro-RO" dirty="0">
                <a:solidFill>
                  <a:schemeClr val="bg1"/>
                </a:solidFill>
              </a:rPr>
              <a:t>				</a:t>
            </a:r>
            <a:r>
              <a:rPr lang="ro-RO" b="1" dirty="0">
                <a:solidFill>
                  <a:schemeClr val="bg1"/>
                </a:solidFill>
              </a:rPr>
              <a:t>Glucoză → Acid </a:t>
            </a:r>
            <a:r>
              <a:rPr lang="ro-RO" b="1" dirty="0" err="1">
                <a:solidFill>
                  <a:schemeClr val="bg1"/>
                </a:solidFill>
              </a:rPr>
              <a:t>piruvic</a:t>
            </a:r>
            <a:endParaRPr lang="ro-RO" b="1" dirty="0">
              <a:solidFill>
                <a:schemeClr val="bg1"/>
              </a:solidFill>
            </a:endParaRPr>
          </a:p>
          <a:p>
            <a:r>
              <a:rPr lang="ro-RO" dirty="0">
                <a:solidFill>
                  <a:schemeClr val="bg1"/>
                </a:solidFill>
              </a:rPr>
              <a:t>De la acidul </a:t>
            </a:r>
            <a:r>
              <a:rPr lang="ro-RO" dirty="0" err="1">
                <a:solidFill>
                  <a:schemeClr val="bg1"/>
                </a:solidFill>
              </a:rPr>
              <a:t>piruvic</a:t>
            </a:r>
            <a:r>
              <a:rPr lang="ro-RO" dirty="0">
                <a:solidFill>
                  <a:schemeClr val="bg1"/>
                </a:solidFill>
              </a:rPr>
              <a:t>, calea metabolică se poate bifurca în funcție de disponibilitatea oxigenului:</a:t>
            </a:r>
          </a:p>
          <a:p>
            <a:r>
              <a:rPr lang="ro-RO" dirty="0">
                <a:solidFill>
                  <a:schemeClr val="bg1"/>
                </a:solidFill>
              </a:rPr>
              <a:t>• Oxidare (calea aerobă): Acidul </a:t>
            </a:r>
            <a:r>
              <a:rPr lang="ro-RO" dirty="0" err="1">
                <a:solidFill>
                  <a:schemeClr val="bg1"/>
                </a:solidFill>
              </a:rPr>
              <a:t>piruvic</a:t>
            </a:r>
            <a:r>
              <a:rPr lang="ro-RO" dirty="0">
                <a:solidFill>
                  <a:schemeClr val="bg1"/>
                </a:solidFill>
              </a:rPr>
              <a:t> este complet descompus la CO₂ + H₂O, eliberând o cantitate mare de energie.</a:t>
            </a:r>
          </a:p>
          <a:p>
            <a:r>
              <a:rPr lang="ro-RO" dirty="0">
                <a:solidFill>
                  <a:schemeClr val="bg1"/>
                </a:solidFill>
              </a:rPr>
              <a:t>• Fermentație (calea anaerobă): În absența oxigenului, acidul </a:t>
            </a:r>
            <a:r>
              <a:rPr lang="ro-RO" dirty="0" err="1">
                <a:solidFill>
                  <a:schemeClr val="bg1"/>
                </a:solidFill>
              </a:rPr>
              <a:t>piruvic</a:t>
            </a:r>
            <a:r>
              <a:rPr lang="ro-RO" dirty="0">
                <a:solidFill>
                  <a:schemeClr val="bg1"/>
                </a:solidFill>
              </a:rPr>
              <a:t> este transformat în acid lactic, eliberând o cantitate mai mică de energie.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1643599-B634-D9E8-88A5-C0B559B3D0B9}"/>
              </a:ext>
            </a:extLst>
          </p:cNvPr>
          <p:cNvSpPr txBox="1"/>
          <p:nvPr/>
        </p:nvSpPr>
        <p:spPr>
          <a:xfrm>
            <a:off x="838200" y="4692781"/>
            <a:ext cx="10029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chemeClr val="bg1"/>
                </a:solidFill>
              </a:rPr>
              <a:t>Chiar și în condiții anaerobe, randamentul energetic este semnificativ: energia obținută din transformarea unei singure molecule de glucoză în acid lactic este suficientă pentru a permite formarea a 3 molecule de ATP.</a:t>
            </a:r>
          </a:p>
          <a:p>
            <a:r>
              <a:rPr lang="ro-RO" dirty="0">
                <a:solidFill>
                  <a:schemeClr val="bg1"/>
                </a:solidFill>
              </a:rPr>
              <a:t>Catabolismul reprezintă procesul prin care organismele eliberează energia stocată în compuși organici, însă la baza biosferei se află captarea inițială a energiei din mediul abiotic prin fotosinteză, realizată de organismele autotrofe, energia fiind ulterior transferată organismelor heterotrofe prin lanțurile trofice.</a:t>
            </a:r>
          </a:p>
        </p:txBody>
      </p:sp>
    </p:spTree>
    <p:extLst>
      <p:ext uri="{BB962C8B-B14F-4D97-AF65-F5344CB8AC3E}">
        <p14:creationId xmlns:p14="http://schemas.microsoft.com/office/powerpoint/2010/main" val="32518020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579D0-D5BE-BC05-B3B3-05E97433F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04" y="1960218"/>
            <a:ext cx="4795742" cy="2513181"/>
          </a:xfrm>
        </p:spPr>
        <p:txBody>
          <a:bodyPr/>
          <a:lstStyle/>
          <a:p>
            <a:r>
              <a:rPr lang="en-US" sz="4400" b="1" dirty="0" err="1"/>
              <a:t>Principiile</a:t>
            </a:r>
            <a:r>
              <a:rPr lang="en-US" sz="4400" b="1" dirty="0"/>
              <a:t> </a:t>
            </a:r>
            <a:r>
              <a:rPr lang="en-US" sz="4400" b="1" dirty="0" err="1"/>
              <a:t>Termochimice</a:t>
            </a:r>
            <a:endParaRPr lang="en-US" sz="4400" dirty="0"/>
          </a:p>
        </p:txBody>
      </p:sp>
      <p:pic>
        <p:nvPicPr>
          <p:cNvPr id="82" name="Picture Placeholder 81" descr="blueprint icon">
            <a:extLst>
              <a:ext uri="{FF2B5EF4-FFF2-40B4-BE49-F238E27FC236}">
                <a16:creationId xmlns:a16="http://schemas.microsoft.com/office/drawing/2014/main" id="{946DCADD-AD38-1B8D-01D3-9FC0FDA5D1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2"/>
          <a:srcRect/>
          <a:stretch/>
        </p:blipFill>
        <p:spPr/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166C0EF-C5A6-69F2-BCD5-6F3E1032296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b="1" dirty="0" err="1"/>
              <a:t>Căldura</a:t>
            </a:r>
            <a:r>
              <a:rPr lang="en-US" b="1" dirty="0"/>
              <a:t> de </a:t>
            </a:r>
            <a:r>
              <a:rPr lang="en-US" b="1" dirty="0" err="1"/>
              <a:t>reacție</a:t>
            </a:r>
            <a:r>
              <a:rPr lang="en-US" b="1" dirty="0"/>
              <a:t> (Q)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57A2B835-2EB4-13B7-BE89-EDFBC68B96C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769863" y="732719"/>
            <a:ext cx="5985451" cy="489411"/>
          </a:xfrm>
        </p:spPr>
        <p:txBody>
          <a:bodyPr/>
          <a:lstStyle/>
          <a:p>
            <a:r>
              <a:rPr lang="ro-RO" sz="1400" dirty="0"/>
              <a:t>Ca</a:t>
            </a:r>
            <a:r>
              <a:rPr lang="en-US" sz="1400" dirty="0" err="1"/>
              <a:t>ntitatea</a:t>
            </a:r>
            <a:r>
              <a:rPr lang="en-US" sz="1400" dirty="0"/>
              <a:t> de </a:t>
            </a:r>
            <a:r>
              <a:rPr lang="en-US" sz="1400" dirty="0" err="1"/>
              <a:t>căldură</a:t>
            </a:r>
            <a:r>
              <a:rPr lang="en-US" sz="1400" dirty="0"/>
              <a:t> </a:t>
            </a:r>
            <a:r>
              <a:rPr lang="en-US" sz="1400" dirty="0" err="1"/>
              <a:t>schimbată</a:t>
            </a:r>
            <a:r>
              <a:rPr lang="en-US" sz="1400" dirty="0"/>
              <a:t> </a:t>
            </a:r>
            <a:r>
              <a:rPr lang="en-US" sz="1400" dirty="0" err="1"/>
              <a:t>între</a:t>
            </a:r>
            <a:r>
              <a:rPr lang="en-US" sz="1400" dirty="0"/>
              <a:t> un </a:t>
            </a:r>
            <a:r>
              <a:rPr lang="en-US" sz="1400" dirty="0" err="1"/>
              <a:t>sistem</a:t>
            </a:r>
            <a:r>
              <a:rPr lang="en-US" sz="1400" dirty="0"/>
              <a:t> </a:t>
            </a:r>
            <a:r>
              <a:rPr lang="en-US" sz="1400" dirty="0" err="1"/>
              <a:t>chimic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</a:t>
            </a:r>
            <a:r>
              <a:rPr lang="en-US" sz="1400" dirty="0" err="1"/>
              <a:t>mediul</a:t>
            </a:r>
            <a:r>
              <a:rPr lang="en-US" sz="1400" dirty="0"/>
              <a:t> </a:t>
            </a:r>
            <a:r>
              <a:rPr lang="en-US" sz="1400" dirty="0" err="1"/>
              <a:t>înconjurător</a:t>
            </a:r>
            <a:r>
              <a:rPr lang="en-US" sz="1400" dirty="0"/>
              <a:t> </a:t>
            </a:r>
            <a:r>
              <a:rPr lang="en-US" sz="1400" dirty="0" err="1"/>
              <a:t>în</a:t>
            </a:r>
            <a:r>
              <a:rPr lang="en-US" sz="1400" dirty="0"/>
              <a:t> </a:t>
            </a:r>
            <a:r>
              <a:rPr lang="en-US" sz="1400" dirty="0" err="1"/>
              <a:t>timpul</a:t>
            </a:r>
            <a:r>
              <a:rPr lang="en-US" sz="1400" dirty="0"/>
              <a:t> </a:t>
            </a:r>
            <a:r>
              <a:rPr lang="en-US" sz="1400" dirty="0" err="1"/>
              <a:t>unei</a:t>
            </a:r>
            <a:r>
              <a:rPr lang="en-US" sz="1400" dirty="0"/>
              <a:t> </a:t>
            </a:r>
            <a:r>
              <a:rPr lang="en-US" sz="1400" dirty="0" err="1"/>
              <a:t>reacți</a:t>
            </a:r>
            <a:r>
              <a:rPr lang="ro-RO" sz="1400" dirty="0"/>
              <a:t>i</a:t>
            </a:r>
            <a:endParaRPr lang="en-US" sz="1400" dirty="0"/>
          </a:p>
        </p:txBody>
      </p:sp>
      <p:pic>
        <p:nvPicPr>
          <p:cNvPr id="84" name="Picture Placeholder 83" descr="easel icon">
            <a:extLst>
              <a:ext uri="{FF2B5EF4-FFF2-40B4-BE49-F238E27FC236}">
                <a16:creationId xmlns:a16="http://schemas.microsoft.com/office/drawing/2014/main" id="{62583283-A6AD-B55E-25D4-E6CFB25B8FC2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/>
          <a:srcRect/>
          <a:stretch/>
        </p:blipFill>
        <p:spPr/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A268DA4-D5BC-38AA-54EB-D10668305C7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69863" y="1746504"/>
            <a:ext cx="5677721" cy="338328"/>
          </a:xfrm>
        </p:spPr>
        <p:txBody>
          <a:bodyPr/>
          <a:lstStyle/>
          <a:p>
            <a:r>
              <a:rPr lang="en-US" b="1" dirty="0" err="1"/>
              <a:t>Entalpia</a:t>
            </a:r>
            <a:r>
              <a:rPr lang="en-US" b="1" dirty="0"/>
              <a:t> standard de </a:t>
            </a:r>
            <a:r>
              <a:rPr lang="en-US" b="1" dirty="0" err="1"/>
              <a:t>formare</a:t>
            </a:r>
            <a:r>
              <a:rPr lang="en-US" b="1" dirty="0"/>
              <a:t> (</a:t>
            </a:r>
            <a:r>
              <a:rPr lang="el-GR" b="1" dirty="0"/>
              <a:t>Δ</a:t>
            </a:r>
            <a:r>
              <a:rPr lang="en-US" b="1" dirty="0"/>
              <a:t>Hf)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798351D-2881-C0EE-6D6D-424E1230A6D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769862" y="2038653"/>
            <a:ext cx="5985450" cy="338328"/>
          </a:xfrm>
        </p:spPr>
        <p:txBody>
          <a:bodyPr/>
          <a:lstStyle/>
          <a:p>
            <a:r>
              <a:rPr lang="ro-RO" sz="1400" dirty="0"/>
              <a:t>C</a:t>
            </a:r>
            <a:r>
              <a:rPr lang="it-IT" sz="1400" dirty="0"/>
              <a:t>ăldura schimbată la formarea unui mol de compus direct din elementele sale componente</a:t>
            </a:r>
            <a:endParaRPr lang="en-US" sz="1400" dirty="0"/>
          </a:p>
        </p:txBody>
      </p:sp>
      <p:pic>
        <p:nvPicPr>
          <p:cNvPr id="86" name="Picture Placeholder 85" descr="ruler icon">
            <a:extLst>
              <a:ext uri="{FF2B5EF4-FFF2-40B4-BE49-F238E27FC236}">
                <a16:creationId xmlns:a16="http://schemas.microsoft.com/office/drawing/2014/main" id="{8AEB4AE0-338D-0B9E-025E-3973A1ECDC83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 rotWithShape="1">
          <a:blip r:embed="rId4"/>
          <a:srcRect/>
          <a:stretch/>
        </p:blipFill>
        <p:spPr/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5589FD6-C049-67E3-0386-55C9E18A5B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b="1" dirty="0" err="1"/>
              <a:t>Legea</a:t>
            </a:r>
            <a:r>
              <a:rPr lang="en-US" b="1" dirty="0"/>
              <a:t> </a:t>
            </a:r>
            <a:r>
              <a:rPr lang="en-US" b="1" dirty="0" err="1"/>
              <a:t>lui</a:t>
            </a:r>
            <a:r>
              <a:rPr lang="en-US" b="1" dirty="0"/>
              <a:t> Hess</a:t>
            </a:r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E4BAA-4471-F175-A91F-AF7D4D9694F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69863" y="3314701"/>
            <a:ext cx="5985449" cy="338328"/>
          </a:xfrm>
        </p:spPr>
        <p:txBody>
          <a:bodyPr/>
          <a:lstStyle/>
          <a:p>
            <a:r>
              <a:rPr lang="ro-RO" sz="1400" dirty="0"/>
              <a:t>V</a:t>
            </a:r>
            <a:r>
              <a:rPr lang="en-US" sz="1400" dirty="0" err="1"/>
              <a:t>ariația</a:t>
            </a:r>
            <a:r>
              <a:rPr lang="en-US" sz="1400" dirty="0"/>
              <a:t> </a:t>
            </a:r>
            <a:r>
              <a:rPr lang="en-US" sz="1400" dirty="0" err="1"/>
              <a:t>totală</a:t>
            </a:r>
            <a:r>
              <a:rPr lang="en-US" sz="1400" dirty="0"/>
              <a:t> de </a:t>
            </a:r>
            <a:r>
              <a:rPr lang="en-US" sz="1400" dirty="0" err="1"/>
              <a:t>căldură</a:t>
            </a:r>
            <a:r>
              <a:rPr lang="en-US" sz="1400" dirty="0"/>
              <a:t> a </a:t>
            </a:r>
            <a:r>
              <a:rPr lang="en-US" sz="1400" dirty="0" err="1"/>
              <a:t>unei</a:t>
            </a:r>
            <a:r>
              <a:rPr lang="en-US" sz="1400" dirty="0"/>
              <a:t> </a:t>
            </a:r>
            <a:r>
              <a:rPr lang="en-US" sz="1400" dirty="0" err="1"/>
              <a:t>reacții</a:t>
            </a:r>
            <a:r>
              <a:rPr lang="en-US" sz="1400" dirty="0"/>
              <a:t> </a:t>
            </a:r>
            <a:r>
              <a:rPr lang="en-US" sz="1400" dirty="0" err="1"/>
              <a:t>chimice</a:t>
            </a:r>
            <a:r>
              <a:rPr lang="en-US" sz="1400" dirty="0"/>
              <a:t> </a:t>
            </a:r>
            <a:r>
              <a:rPr lang="en-US" sz="1400" dirty="0" err="1"/>
              <a:t>depinde</a:t>
            </a:r>
            <a:r>
              <a:rPr lang="en-US" sz="1400" dirty="0"/>
              <a:t> </a:t>
            </a:r>
            <a:r>
              <a:rPr lang="en-US" sz="1400" dirty="0" err="1"/>
              <a:t>exclusiv</a:t>
            </a:r>
            <a:r>
              <a:rPr lang="en-US" sz="1400" dirty="0"/>
              <a:t> de </a:t>
            </a:r>
            <a:r>
              <a:rPr lang="en-US" sz="1400" dirty="0" err="1"/>
              <a:t>starea</a:t>
            </a:r>
            <a:r>
              <a:rPr lang="en-US" sz="1400" dirty="0"/>
              <a:t> </a:t>
            </a:r>
            <a:r>
              <a:rPr lang="en-US" sz="1400" dirty="0" err="1"/>
              <a:t>inițială</a:t>
            </a:r>
            <a:r>
              <a:rPr lang="en-US" sz="1400" dirty="0"/>
              <a:t> a </a:t>
            </a:r>
            <a:r>
              <a:rPr lang="en-US" sz="1400" dirty="0" err="1"/>
              <a:t>reactanților</a:t>
            </a:r>
            <a:r>
              <a:rPr lang="en-US" sz="1400" dirty="0"/>
              <a:t> </a:t>
            </a:r>
            <a:r>
              <a:rPr lang="en-US" sz="1400" dirty="0" err="1"/>
              <a:t>și</a:t>
            </a:r>
            <a:r>
              <a:rPr lang="en-US" sz="1400" dirty="0"/>
              <a:t> de </a:t>
            </a:r>
            <a:r>
              <a:rPr lang="en-US" sz="1400" dirty="0" err="1"/>
              <a:t>starea</a:t>
            </a:r>
            <a:r>
              <a:rPr lang="en-US" sz="1400" dirty="0"/>
              <a:t> </a:t>
            </a:r>
            <a:r>
              <a:rPr lang="en-US" sz="1400" dirty="0" err="1"/>
              <a:t>finală</a:t>
            </a:r>
            <a:r>
              <a:rPr lang="en-US" sz="1400" dirty="0"/>
              <a:t> a </a:t>
            </a:r>
            <a:r>
              <a:rPr lang="en-US" sz="1400" dirty="0" err="1"/>
              <a:t>produșilor</a:t>
            </a:r>
            <a:r>
              <a:rPr lang="en-US" sz="1400" dirty="0"/>
              <a:t> de </a:t>
            </a:r>
            <a:r>
              <a:rPr lang="en-US" sz="1400" dirty="0" err="1"/>
              <a:t>reacție</a:t>
            </a:r>
            <a:endParaRPr lang="en-US" sz="1400" dirty="0"/>
          </a:p>
        </p:txBody>
      </p:sp>
      <p:pic>
        <p:nvPicPr>
          <p:cNvPr id="88" name="Picture Placeholder 87" descr="strategy icon">
            <a:extLst>
              <a:ext uri="{FF2B5EF4-FFF2-40B4-BE49-F238E27FC236}">
                <a16:creationId xmlns:a16="http://schemas.microsoft.com/office/drawing/2014/main" id="{F2E3F8F5-F045-71C9-3C78-9ACF70E19C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5"/>
          <a:srcRect t="476" b="476"/>
          <a:stretch/>
        </p:blipFill>
        <p:spPr>
          <a:xfrm>
            <a:off x="4455524" y="5750025"/>
            <a:ext cx="640080" cy="640080"/>
          </a:xfr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EE4168-3FE3-7D58-F903-91FC215BAE4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b="1" dirty="0" err="1"/>
              <a:t>Procese</a:t>
            </a:r>
            <a:r>
              <a:rPr lang="en-US" b="1" dirty="0"/>
              <a:t> </a:t>
            </a:r>
            <a:r>
              <a:rPr lang="en-US" b="1" dirty="0" err="1"/>
              <a:t>Exoterme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6C25713-E18A-8B65-C9FA-9A00A9CBBA6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769864" y="4604005"/>
            <a:ext cx="5029200" cy="338328"/>
          </a:xfrm>
        </p:spPr>
        <p:txBody>
          <a:bodyPr/>
          <a:lstStyle/>
          <a:p>
            <a:r>
              <a:rPr lang="ro-RO" sz="1400" dirty="0"/>
              <a:t>E</a:t>
            </a:r>
            <a:r>
              <a:rPr lang="en-US" sz="1400" dirty="0" err="1"/>
              <a:t>liberează</a:t>
            </a:r>
            <a:r>
              <a:rPr lang="en-US" sz="1400" dirty="0"/>
              <a:t> </a:t>
            </a:r>
            <a:r>
              <a:rPr lang="en-US" sz="1400" dirty="0" err="1"/>
              <a:t>energie</a:t>
            </a:r>
            <a:r>
              <a:rPr lang="ro-RO" sz="1400" dirty="0"/>
              <a:t>, spre exemplu degradarea </a:t>
            </a:r>
            <a:r>
              <a:rPr lang="ro-RO" sz="1400" dirty="0" err="1"/>
              <a:t>nutrienților</a:t>
            </a:r>
            <a:r>
              <a:rPr lang="ro-RO" sz="1400" dirty="0"/>
              <a:t>, sau neutralizarea unui acid tare cu o baza tare</a:t>
            </a:r>
            <a:endParaRPr lang="en-US" sz="1400" dirty="0"/>
          </a:p>
        </p:txBody>
      </p:sp>
      <p:pic>
        <p:nvPicPr>
          <p:cNvPr id="90" name="Picture Placeholder 89" descr="airplane icon">
            <a:extLst>
              <a:ext uri="{FF2B5EF4-FFF2-40B4-BE49-F238E27FC236}">
                <a16:creationId xmlns:a16="http://schemas.microsoft.com/office/drawing/2014/main" id="{B6EFDE8D-973A-9009-9237-3CDC19C43D60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6"/>
          <a:srcRect/>
          <a:stretch/>
        </p:blipFill>
        <p:spPr>
          <a:xfrm>
            <a:off x="4496386" y="4428251"/>
            <a:ext cx="640080" cy="640080"/>
          </a:xfr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99BB05-2464-9628-4AF6-F75298B4B89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b="1" dirty="0" err="1"/>
              <a:t>Procese</a:t>
            </a:r>
            <a:r>
              <a:rPr lang="en-US" b="1" dirty="0"/>
              <a:t> </a:t>
            </a:r>
            <a:r>
              <a:rPr lang="ro-RO" b="1" dirty="0" err="1"/>
              <a:t>Endo</a:t>
            </a:r>
            <a:r>
              <a:rPr lang="en-US" b="1" dirty="0" err="1"/>
              <a:t>terme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2EB94B1B-FC15-3A7B-A562-06B6F366B3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r>
              <a:rPr lang="ro-RO" sz="1400" dirty="0"/>
              <a:t>C</a:t>
            </a:r>
            <a:r>
              <a:rPr lang="en-US" sz="1400" dirty="0" err="1"/>
              <a:t>onsumă</a:t>
            </a:r>
            <a:r>
              <a:rPr lang="en-US" sz="1400" dirty="0"/>
              <a:t> </a:t>
            </a:r>
            <a:r>
              <a:rPr lang="en-US" sz="1400" dirty="0" err="1"/>
              <a:t>energie</a:t>
            </a:r>
            <a:r>
              <a:rPr lang="ro-RO" sz="1400" dirty="0"/>
              <a:t>, spre exemplu fotosinteza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8665335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754228A-3F58-16BA-300C-FC2B32D7929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67AD6B-0EBB-7092-13C6-240F8A4A4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75868" y="1272791"/>
            <a:ext cx="4959821" cy="1162762"/>
          </a:xfrm>
        </p:spPr>
        <p:txBody>
          <a:bodyPr/>
          <a:lstStyle/>
          <a:p>
            <a:r>
              <a:rPr lang="ro-RO" altLang="zh-CN" sz="4400" dirty="0"/>
              <a:t>Concluzii</a:t>
            </a:r>
            <a:endParaRPr lang="en-US" sz="4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AA7609-6E6A-B996-BC29-F9AA857D7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1229" y="2393350"/>
            <a:ext cx="5849101" cy="2210063"/>
          </a:xfrm>
        </p:spPr>
        <p:txBody>
          <a:bodyPr/>
          <a:lstStyle/>
          <a:p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concluzie</a:t>
            </a:r>
            <a:r>
              <a:rPr lang="en-US" dirty="0"/>
              <a:t>, </a:t>
            </a:r>
            <a:r>
              <a:rPr lang="en-US" dirty="0" err="1"/>
              <a:t>viața</a:t>
            </a:r>
            <a:r>
              <a:rPr lang="en-US" dirty="0"/>
              <a:t>, la </a:t>
            </a:r>
            <a:r>
              <a:rPr lang="en-US" dirty="0" err="1"/>
              <a:t>nivelul</a:t>
            </a:r>
            <a:r>
              <a:rPr lang="en-US" dirty="0"/>
              <a:t> </a:t>
            </a:r>
            <a:r>
              <a:rPr lang="en-US" dirty="0" err="1"/>
              <a:t>său</a:t>
            </a:r>
            <a:r>
              <a:rPr lang="en-US" dirty="0"/>
              <a:t> cel </a:t>
            </a:r>
            <a:r>
              <a:rPr lang="en-US" dirty="0" err="1"/>
              <a:t>mai</a:t>
            </a:r>
            <a:r>
              <a:rPr lang="en-US" dirty="0"/>
              <a:t> fundamental,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exercițiu</a:t>
            </a:r>
            <a:r>
              <a:rPr lang="en-US" dirty="0"/>
              <a:t> de management energetic. </a:t>
            </a:r>
            <a:r>
              <a:rPr lang="en-US" dirty="0" err="1"/>
              <a:t>Acest</a:t>
            </a:r>
            <a:r>
              <a:rPr lang="en-US" dirty="0"/>
              <a:t> </a:t>
            </a:r>
            <a:r>
              <a:rPr lang="en-US" dirty="0" err="1"/>
              <a:t>raport</a:t>
            </a:r>
            <a:r>
              <a:rPr lang="en-US" dirty="0"/>
              <a:t> a </a:t>
            </a:r>
            <a:r>
              <a:rPr lang="en-US" dirty="0" err="1"/>
              <a:t>demonstrat</a:t>
            </a:r>
            <a:r>
              <a:rPr lang="en-US" dirty="0"/>
              <a:t> cum </a:t>
            </a:r>
            <a:r>
              <a:rPr lang="en-US" dirty="0" err="1"/>
              <a:t>principiile</a:t>
            </a:r>
            <a:r>
              <a:rPr lang="en-US" dirty="0"/>
              <a:t> </a:t>
            </a:r>
            <a:r>
              <a:rPr lang="en-US" dirty="0" err="1"/>
              <a:t>termochimice</a:t>
            </a:r>
            <a:r>
              <a:rPr lang="en-US" dirty="0"/>
              <a:t> </a:t>
            </a:r>
            <a:r>
              <a:rPr lang="en-US" dirty="0" err="1"/>
              <a:t>guvernează</a:t>
            </a:r>
            <a:r>
              <a:rPr lang="en-US" dirty="0"/>
              <a:t> </a:t>
            </a:r>
            <a:r>
              <a:rPr lang="en-US" dirty="0" err="1"/>
              <a:t>transformările</a:t>
            </a:r>
            <a:r>
              <a:rPr lang="en-US" dirty="0"/>
              <a:t> </a:t>
            </a:r>
            <a:r>
              <a:rPr lang="en-US" dirty="0" err="1"/>
              <a:t>energetice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sistemele</a:t>
            </a:r>
            <a:r>
              <a:rPr lang="en-US" dirty="0"/>
              <a:t> vii, de la </a:t>
            </a:r>
            <a:r>
              <a:rPr lang="en-US" dirty="0" err="1"/>
              <a:t>procesul</a:t>
            </a:r>
            <a:r>
              <a:rPr lang="en-US" dirty="0"/>
              <a:t> </a:t>
            </a:r>
            <a:r>
              <a:rPr lang="en-US" dirty="0" err="1"/>
              <a:t>endoterm</a:t>
            </a:r>
            <a:r>
              <a:rPr lang="en-US" dirty="0"/>
              <a:t> de </a:t>
            </a:r>
            <a:r>
              <a:rPr lang="en-US" dirty="0" err="1"/>
              <a:t>captare</a:t>
            </a:r>
            <a:r>
              <a:rPr lang="en-US" dirty="0"/>
              <a:t> a </a:t>
            </a:r>
            <a:r>
              <a:rPr lang="en-US" dirty="0" err="1"/>
              <a:t>energiei</a:t>
            </a:r>
            <a:r>
              <a:rPr lang="en-US" dirty="0"/>
              <a:t> </a:t>
            </a:r>
            <a:r>
              <a:rPr lang="en-US" dirty="0" err="1"/>
              <a:t>solare</a:t>
            </a:r>
            <a:r>
              <a:rPr lang="en-US" dirty="0"/>
              <a:t> </a:t>
            </a:r>
            <a:r>
              <a:rPr lang="en-US" dirty="0" err="1"/>
              <a:t>prin</a:t>
            </a:r>
            <a:r>
              <a:rPr lang="en-US" dirty="0"/>
              <a:t> </a:t>
            </a:r>
            <a:r>
              <a:rPr lang="en-US" dirty="0" err="1"/>
              <a:t>fotosinteză</a:t>
            </a:r>
            <a:r>
              <a:rPr lang="en-US" dirty="0"/>
              <a:t>, la </a:t>
            </a:r>
            <a:r>
              <a:rPr lang="en-US" dirty="0" err="1"/>
              <a:t>reacțiile</a:t>
            </a:r>
            <a:r>
              <a:rPr lang="en-US" dirty="0"/>
              <a:t> </a:t>
            </a:r>
            <a:r>
              <a:rPr lang="en-US" dirty="0" err="1"/>
              <a:t>exoterme</a:t>
            </a:r>
            <a:r>
              <a:rPr lang="en-US" dirty="0"/>
              <a:t> ale </a:t>
            </a:r>
            <a:r>
              <a:rPr lang="en-US" dirty="0" err="1"/>
              <a:t>catabolismului</a:t>
            </a:r>
            <a:r>
              <a:rPr lang="en-US" dirty="0"/>
              <a:t> care </a:t>
            </a:r>
            <a:r>
              <a:rPr lang="en-US" dirty="0" err="1"/>
              <a:t>eliberează</a:t>
            </a:r>
            <a:r>
              <a:rPr lang="en-US" dirty="0"/>
              <a:t> </a:t>
            </a:r>
            <a:r>
              <a:rPr lang="en-US" dirty="0" err="1"/>
              <a:t>energia</a:t>
            </a:r>
            <a:r>
              <a:rPr lang="en-US" dirty="0"/>
              <a:t> </a:t>
            </a:r>
            <a:r>
              <a:rPr lang="en-US" dirty="0" err="1"/>
              <a:t>stocată</a:t>
            </a:r>
            <a:r>
              <a:rPr lang="en-US" dirty="0"/>
              <a:t> </a:t>
            </a:r>
            <a:r>
              <a:rPr lang="en-US" dirty="0" err="1"/>
              <a:t>în</a:t>
            </a:r>
            <a:r>
              <a:rPr lang="en-US" dirty="0"/>
              <a:t> </a:t>
            </a:r>
            <a:r>
              <a:rPr lang="en-US" dirty="0" err="1"/>
              <a:t>alimente</a:t>
            </a:r>
            <a:r>
              <a:rPr lang="en-US" dirty="0"/>
              <a:t>. </a:t>
            </a:r>
            <a:r>
              <a:rPr lang="en-US" dirty="0" err="1"/>
              <a:t>Rolul</a:t>
            </a:r>
            <a:r>
              <a:rPr lang="en-US" dirty="0"/>
              <a:t> </a:t>
            </a:r>
            <a:r>
              <a:rPr lang="en-US" dirty="0" err="1"/>
              <a:t>indispensabil</a:t>
            </a:r>
            <a:r>
              <a:rPr lang="en-US" dirty="0"/>
              <a:t> al </a:t>
            </a:r>
            <a:r>
              <a:rPr lang="en-US" dirty="0" err="1"/>
              <a:t>ciclului</a:t>
            </a:r>
            <a:r>
              <a:rPr lang="en-US" dirty="0"/>
              <a:t> ATP/ADP a </a:t>
            </a:r>
            <a:r>
              <a:rPr lang="en-US" dirty="0" err="1"/>
              <a:t>fost</a:t>
            </a:r>
            <a:r>
              <a:rPr lang="en-US" dirty="0"/>
              <a:t> </a:t>
            </a:r>
            <a:r>
              <a:rPr lang="en-US" dirty="0" err="1"/>
              <a:t>evidențiat</a:t>
            </a:r>
            <a:r>
              <a:rPr lang="en-US" dirty="0"/>
              <a:t> ca </a:t>
            </a:r>
            <a:r>
              <a:rPr lang="en-US" dirty="0" err="1"/>
              <a:t>mecanismul</a:t>
            </a:r>
            <a:r>
              <a:rPr lang="en-US" dirty="0"/>
              <a:t> universal </a:t>
            </a:r>
            <a:r>
              <a:rPr lang="en-US" dirty="0" err="1"/>
              <a:t>prin</a:t>
            </a:r>
            <a:r>
              <a:rPr lang="en-US" dirty="0"/>
              <a:t> care </a:t>
            </a:r>
            <a:r>
              <a:rPr lang="en-US" dirty="0" err="1"/>
              <a:t>această</a:t>
            </a:r>
            <a:r>
              <a:rPr lang="en-US" dirty="0"/>
              <a:t> </a:t>
            </a:r>
            <a:r>
              <a:rPr lang="en-US" dirty="0" err="1"/>
              <a:t>energie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</a:t>
            </a:r>
            <a:r>
              <a:rPr lang="en-US" dirty="0" err="1"/>
              <a:t>transferată</a:t>
            </a:r>
            <a:r>
              <a:rPr lang="en-US" dirty="0"/>
              <a:t> </a:t>
            </a:r>
            <a:r>
              <a:rPr lang="en-US" dirty="0" err="1"/>
              <a:t>și</a:t>
            </a:r>
            <a:r>
              <a:rPr lang="en-US" dirty="0"/>
              <a:t> </a:t>
            </a:r>
            <a:r>
              <a:rPr lang="en-US" dirty="0" err="1"/>
              <a:t>utilizată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alimenta</a:t>
            </a:r>
            <a:r>
              <a:rPr lang="en-US" dirty="0"/>
              <a:t> </a:t>
            </a:r>
            <a:r>
              <a:rPr lang="en-US" dirty="0" err="1"/>
              <a:t>procesele</a:t>
            </a:r>
            <a:r>
              <a:rPr lang="en-US" dirty="0"/>
              <a:t> </a:t>
            </a:r>
            <a:r>
              <a:rPr lang="en-US" dirty="0" err="1"/>
              <a:t>celulare</a:t>
            </a:r>
            <a:r>
              <a:rPr lang="en-US" dirty="0"/>
              <a:t>.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EA450CD4-3018-DBCF-3A32-B72A7DCFA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0AFDD5-844D-364D-8AEC-50CF4D36D55D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146" name="Picture 2" descr="undefined">
            <a:extLst>
              <a:ext uri="{FF2B5EF4-FFF2-40B4-BE49-F238E27FC236}">
                <a16:creationId xmlns:a16="http://schemas.microsoft.com/office/drawing/2014/main" id="{90E9C01E-8F38-1496-BB2B-FC0076B72B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543" y="429413"/>
            <a:ext cx="3668040" cy="2137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undefined">
            <a:extLst>
              <a:ext uri="{FF2B5EF4-FFF2-40B4-BE49-F238E27FC236}">
                <a16:creationId xmlns:a16="http://schemas.microsoft.com/office/drawing/2014/main" id="{AD31EF64-9CC5-D69A-D005-4DB90440B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4838" y="3763962"/>
            <a:ext cx="4480803" cy="2210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47C1F95-D3DC-1D52-B1FD-6F81912A5512}"/>
              </a:ext>
            </a:extLst>
          </p:cNvPr>
          <p:cNvSpPr txBox="1"/>
          <p:nvPr/>
        </p:nvSpPr>
        <p:spPr>
          <a:xfrm>
            <a:off x="246185" y="2787162"/>
            <a:ext cx="344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Adenozin</a:t>
            </a:r>
            <a:r>
              <a:rPr lang="en-US" dirty="0"/>
              <a:t> </a:t>
            </a:r>
            <a:r>
              <a:rPr lang="en-US" dirty="0" err="1"/>
              <a:t>difosfat</a:t>
            </a:r>
            <a:endParaRPr lang="ro-R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B86D72-5CEF-E7A0-7AD7-0F993B2A0696}"/>
              </a:ext>
            </a:extLst>
          </p:cNvPr>
          <p:cNvSpPr txBox="1"/>
          <p:nvPr/>
        </p:nvSpPr>
        <p:spPr>
          <a:xfrm>
            <a:off x="246185" y="6200969"/>
            <a:ext cx="344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Adenozin</a:t>
            </a:r>
            <a:r>
              <a:rPr lang="en-US" dirty="0"/>
              <a:t> </a:t>
            </a:r>
            <a:r>
              <a:rPr lang="en-US" dirty="0" err="1"/>
              <a:t>trifosfat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5917223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4C5B759-93CB-5B5A-B1D2-2E3C42747C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6988" y="1046988"/>
            <a:ext cx="4873752" cy="913697"/>
          </a:xfrm>
        </p:spPr>
        <p:txBody>
          <a:bodyPr/>
          <a:lstStyle/>
          <a:p>
            <a:r>
              <a:rPr lang="ro-RO" sz="4400" dirty="0"/>
              <a:t>Bibliografie</a:t>
            </a:r>
            <a:endParaRPr lang="en-US" sz="4400" dirty="0"/>
          </a:p>
        </p:txBody>
      </p:sp>
      <p:sp>
        <p:nvSpPr>
          <p:cNvPr id="25" name="Subtitle 24">
            <a:extLst>
              <a:ext uri="{FF2B5EF4-FFF2-40B4-BE49-F238E27FC236}">
                <a16:creationId xmlns:a16="http://schemas.microsoft.com/office/drawing/2014/main" id="{518B68B6-5284-F036-E87F-9BC3A435A7B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6F692B-067E-8C4A-CBD6-3DDE951B4D07}"/>
              </a:ext>
            </a:extLst>
          </p:cNvPr>
          <p:cNvSpPr txBox="1"/>
          <p:nvPr/>
        </p:nvSpPr>
        <p:spPr>
          <a:xfrm>
            <a:off x="1046988" y="1820008"/>
            <a:ext cx="975875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Manual Chimie</a:t>
            </a:r>
          </a:p>
          <a:p>
            <a:r>
              <a:rPr lang="ro-RO" dirty="0"/>
              <a:t>Următoarele site-uri au fost folosite pentru imagini sugestive</a:t>
            </a:r>
            <a:r>
              <a:rPr lang="en-US" dirty="0"/>
              <a:t>:</a:t>
            </a:r>
            <a:endParaRPr lang="ro-RO" dirty="0"/>
          </a:p>
          <a:p>
            <a:r>
              <a:rPr lang="ro-RO" dirty="0">
                <a:hlinkClick r:id="rId2"/>
              </a:rPr>
              <a:t>https://courses.lumenlearning.com/suny-orgbiochemistry/chapter/20-1-atp-the-universal-energy-currency/</a:t>
            </a:r>
            <a:endParaRPr lang="ro-RO" dirty="0"/>
          </a:p>
          <a:p>
            <a:r>
              <a:rPr lang="ro-RO" dirty="0">
                <a:hlinkClick r:id="rId3"/>
              </a:rPr>
              <a:t>https://drvasiradulescu.ro/2021/12/15/molecula-mama-a-tuturor-energiilor-noastre/</a:t>
            </a:r>
            <a:endParaRPr lang="ro-RO" dirty="0"/>
          </a:p>
          <a:p>
            <a:r>
              <a:rPr lang="ro-RO" dirty="0">
                <a:hlinkClick r:id="rId4"/>
              </a:rPr>
              <a:t>https://ro.wikipedia.org/wiki/Adenozin_trifosfat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583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0">
      <a:dk1>
        <a:srgbClr val="000000"/>
      </a:dk1>
      <a:lt1>
        <a:srgbClr val="FFFFFF"/>
      </a:lt1>
      <a:dk2>
        <a:srgbClr val="264653"/>
      </a:dk2>
      <a:lt2>
        <a:srgbClr val="E7E6E6"/>
      </a:lt2>
      <a:accent1>
        <a:srgbClr val="F3EBE8"/>
      </a:accent1>
      <a:accent2>
        <a:srgbClr val="E9C369"/>
      </a:accent2>
      <a:accent3>
        <a:srgbClr val="2A9D8F"/>
      </a:accent3>
      <a:accent4>
        <a:srgbClr val="F3D6CD"/>
      </a:accent4>
      <a:accent5>
        <a:srgbClr val="F3EBE8"/>
      </a:accent5>
      <a:accent6>
        <a:srgbClr val="60717C"/>
      </a:accent6>
      <a:hlink>
        <a:srgbClr val="828683"/>
      </a:hlink>
      <a:folHlink>
        <a:srgbClr val="D08A55"/>
      </a:folHlink>
    </a:clrScheme>
    <a:fontScheme name="Custom 28">
      <a:majorFont>
        <a:latin typeface="Century Gothic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dern-Angles_Win32_CP_v11" id="{557BB2FF-F1F4-4776-80DE-DC11FC14475E}" vid="{E0321167-E0D5-4285-8F17-B2BAD920F1B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D9A46C-D3F3-4D45-B248-B831C6B5FC8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5FA78568-A730-4D3B-A489-FD854E91254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D90517-43A3-4BC6-B197-5C7B7D3DBC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{4A2F8C84-04A2-47A4-9D3D-90B757671119}TFe1d98463-2fb3-4a8a-b8ce-60608704d48e96bc5776_win32-f4b1007d240e</Template>
  <TotalTime>339</TotalTime>
  <Words>1536</Words>
  <Application>Microsoft Office PowerPoint</Application>
  <PresentationFormat>Widescreen</PresentationFormat>
  <Paragraphs>103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Century Gothic</vt:lpstr>
      <vt:lpstr>Karla</vt:lpstr>
      <vt:lpstr>Univers Condensed Light</vt:lpstr>
      <vt:lpstr>Office Theme</vt:lpstr>
      <vt:lpstr>Energia în sistemele biologice</vt:lpstr>
      <vt:lpstr>Cuprins</vt:lpstr>
      <vt:lpstr>Fundamentul energetic al vieții</vt:lpstr>
      <vt:lpstr>Fotosinteza</vt:lpstr>
      <vt:lpstr>Etapele fotosintezei</vt:lpstr>
      <vt:lpstr>ATP -Moneda energetică universală a celulei- </vt:lpstr>
      <vt:lpstr>Energia din Alimentație: O Perspectivă Termochimică</vt:lpstr>
      <vt:lpstr>Din punct de vedere energetic, aceste rezerve nu sunt echivalente: valoarea energetică a grăsimilor este dublă față de cea a proteinelor și a glucidelor.  Recomandări dietetice: O persoană supraponderală ar trebui să consume cu precădere alimente bogate în proteine și glucide și să evite alimentele cu un conținut ridicat de grăsimi, pentru a reduce aportul caloric total.  Consecințele sedentarismului: Un stil de viață sedentar, combinat cu o dietă necontrolată și un aport caloric excesiv, conduce inevitabil la acumularea de lipide în țesuturi, favorizând creșterea în greutate.</vt:lpstr>
      <vt:lpstr>Metabolismul</vt:lpstr>
      <vt:lpstr>Metabolismul</vt:lpstr>
      <vt:lpstr>Principiile Termochimice</vt:lpstr>
      <vt:lpstr>Concluzii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19086 Suciu Ilban George</dc:creator>
  <cp:lastModifiedBy>19086 Suciu Ilban George</cp:lastModifiedBy>
  <cp:revision>1</cp:revision>
  <dcterms:created xsi:type="dcterms:W3CDTF">2025-12-17T13:59:45Z</dcterms:created>
  <dcterms:modified xsi:type="dcterms:W3CDTF">2025-12-17T19:39:31Z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