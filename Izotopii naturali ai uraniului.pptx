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notesSlides/notesSlide2.xml" ContentType="application/vnd.openxmlformats-officedocument.presentationml.notesSlide+xml"/>
  <Override PartName="/ppt/theme/themeOverride4.xml" ContentType="application/vnd.openxmlformats-officedocument.themeOverr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5"/>
  </p:notesMasterIdLst>
  <p:sldIdLst>
    <p:sldId id="278" r:id="rId5"/>
    <p:sldId id="279" r:id="rId6"/>
    <p:sldId id="280" r:id="rId7"/>
    <p:sldId id="281" r:id="rId8"/>
    <p:sldId id="282" r:id="rId9"/>
    <p:sldId id="283" r:id="rId10"/>
    <p:sldId id="284" r:id="rId11"/>
    <p:sldId id="285" r:id="rId12"/>
    <p:sldId id="288" r:id="rId13"/>
    <p:sldId id="28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87" d="100"/>
          <a:sy n="87" d="100"/>
        </p:scale>
        <p:origin x="566" y="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3/12/2026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5929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5215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3/12/2026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3/12/2026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3/12/2026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3/12/2026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3/12/2026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3/12/2026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3/12/2026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3.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4.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0" y="1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a:bodyPr>
          <a:lstStyle/>
          <a:p>
            <a:pPr algn="l"/>
            <a:r>
              <a:rPr lang="en-US" sz="4000" dirty="0" err="1"/>
              <a:t>Izotopii</a:t>
            </a:r>
            <a:r>
              <a:rPr lang="ro-RO" sz="4000" dirty="0"/>
              <a:t> naturali ai</a:t>
            </a:r>
            <a:r>
              <a:rPr lang="en-US" sz="4000" dirty="0"/>
              <a:t> </a:t>
            </a:r>
            <a:r>
              <a:rPr lang="en-US" sz="4000" dirty="0" err="1"/>
              <a:t>uraniului</a:t>
            </a:r>
            <a:br>
              <a:rPr lang="en-US" sz="4000" dirty="0"/>
            </a:br>
            <a:endParaRPr lang="en-US" sz="4000" dirty="0"/>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389965" y="4157933"/>
            <a:ext cx="3485072" cy="1026544"/>
          </a:xfrm>
        </p:spPr>
        <p:txBody>
          <a:bodyPr>
            <a:normAutofit/>
          </a:bodyPr>
          <a:lstStyle/>
          <a:p>
            <a:pPr algn="l"/>
            <a:endParaRPr lang="en-US" sz="2300" dirty="0"/>
          </a:p>
        </p:txBody>
      </p:sp>
      <p:pic>
        <p:nvPicPr>
          <p:cNvPr id="6" name="Picture 5">
            <a:extLst>
              <a:ext uri="{FF2B5EF4-FFF2-40B4-BE49-F238E27FC236}">
                <a16:creationId xmlns:a16="http://schemas.microsoft.com/office/drawing/2014/main" id="{A97090C8-5CE7-4E4D-B757-842FADDE07CA}"/>
              </a:ext>
            </a:extLst>
          </p:cNvPr>
          <p:cNvPicPr>
            <a:picLocks noChangeAspect="1"/>
          </p:cNvPicPr>
          <p:nvPr/>
        </p:nvPicPr>
        <p:blipFill>
          <a:blip r:embed="rId5"/>
          <a:stretch>
            <a:fillRect/>
          </a:stretch>
        </p:blipFill>
        <p:spPr>
          <a:xfrm>
            <a:off x="215417" y="271347"/>
            <a:ext cx="4038027" cy="2298273"/>
          </a:xfrm>
          <a:prstGeom prst="rect">
            <a:avLst/>
          </a:prstGeom>
        </p:spPr>
      </p:pic>
      <p:pic>
        <p:nvPicPr>
          <p:cNvPr id="8" name="Picture 7">
            <a:extLst>
              <a:ext uri="{FF2B5EF4-FFF2-40B4-BE49-F238E27FC236}">
                <a16:creationId xmlns:a16="http://schemas.microsoft.com/office/drawing/2014/main" id="{F18BC779-AD6D-417B-97FE-BB5FD1474338}"/>
              </a:ext>
            </a:extLst>
          </p:cNvPr>
          <p:cNvPicPr>
            <a:picLocks noChangeAspect="1"/>
          </p:cNvPicPr>
          <p:nvPr/>
        </p:nvPicPr>
        <p:blipFill>
          <a:blip r:embed="rId6"/>
          <a:stretch>
            <a:fillRect/>
          </a:stretch>
        </p:blipFill>
        <p:spPr>
          <a:xfrm>
            <a:off x="4354006" y="971987"/>
            <a:ext cx="2596974" cy="1403074"/>
          </a:xfrm>
          <a:prstGeom prst="rect">
            <a:avLst/>
          </a:prstGeom>
        </p:spPr>
      </p:pic>
      <p:pic>
        <p:nvPicPr>
          <p:cNvPr id="10" name="Picture 9">
            <a:extLst>
              <a:ext uri="{FF2B5EF4-FFF2-40B4-BE49-F238E27FC236}">
                <a16:creationId xmlns:a16="http://schemas.microsoft.com/office/drawing/2014/main" id="{F378461D-4806-4039-9CBD-E7547B7F179A}"/>
              </a:ext>
            </a:extLst>
          </p:cNvPr>
          <p:cNvPicPr>
            <a:picLocks noChangeAspect="1"/>
          </p:cNvPicPr>
          <p:nvPr/>
        </p:nvPicPr>
        <p:blipFill>
          <a:blip r:embed="rId7"/>
          <a:stretch>
            <a:fillRect/>
          </a:stretch>
        </p:blipFill>
        <p:spPr>
          <a:xfrm>
            <a:off x="3675398" y="2930711"/>
            <a:ext cx="3275580" cy="2955302"/>
          </a:xfrm>
          <a:prstGeom prst="rect">
            <a:avLst/>
          </a:prstGeom>
        </p:spPr>
      </p:pic>
      <p:pic>
        <p:nvPicPr>
          <p:cNvPr id="12" name="Picture 11">
            <a:extLst>
              <a:ext uri="{FF2B5EF4-FFF2-40B4-BE49-F238E27FC236}">
                <a16:creationId xmlns:a16="http://schemas.microsoft.com/office/drawing/2014/main" id="{CA70557B-BBFF-47ED-8F2C-B4555A93D7B0}"/>
              </a:ext>
            </a:extLst>
          </p:cNvPr>
          <p:cNvPicPr>
            <a:picLocks noChangeAspect="1"/>
          </p:cNvPicPr>
          <p:nvPr/>
        </p:nvPicPr>
        <p:blipFill>
          <a:blip r:embed="rId8"/>
          <a:stretch>
            <a:fillRect/>
          </a:stretch>
        </p:blipFill>
        <p:spPr>
          <a:xfrm>
            <a:off x="144039" y="3275850"/>
            <a:ext cx="3385030" cy="2025062"/>
          </a:xfrm>
          <a:prstGeom prst="rect">
            <a:avLst/>
          </a:prstGeom>
        </p:spPr>
      </p:pic>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900493" y="609600"/>
            <a:ext cx="4538124" cy="970450"/>
          </a:xfrm>
        </p:spPr>
        <p:txBody>
          <a:bodyPr anchor="b">
            <a:normAutofit/>
          </a:bodyPr>
          <a:lstStyle/>
          <a:p>
            <a:pPr algn="l"/>
            <a:r>
              <a:rPr lang="en-US" sz="4000" dirty="0"/>
              <a:t>Ce este un </a:t>
            </a:r>
            <a:r>
              <a:rPr lang="en-US" sz="4000" dirty="0" err="1"/>
              <a:t>izotop</a:t>
            </a:r>
            <a:r>
              <a:rPr lang="en-US" sz="4000" dirty="0"/>
              <a:t>?	</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6900493" y="1732449"/>
            <a:ext cx="4403596" cy="4058751"/>
          </a:xfrm>
        </p:spPr>
        <p:txBody>
          <a:bodyPr anchor="t">
            <a:normAutofit/>
          </a:bodyPr>
          <a:lstStyle/>
          <a:p>
            <a:r>
              <a:rPr lang="en-US" sz="2400" dirty="0"/>
              <a:t>Dup</a:t>
            </a:r>
            <a:r>
              <a:rPr lang="ro-RO" sz="2400" dirty="0"/>
              <a:t>ă cum probabil vă mai amintiți, un izotop este o specie a aceluiaș element chimic care are același număr de protoni în nucleu dar are un număr de neutroni diferit</a:t>
            </a:r>
          </a:p>
        </p:txBody>
      </p:sp>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900493" y="609600"/>
            <a:ext cx="4538124" cy="970450"/>
          </a:xfrm>
        </p:spPr>
        <p:txBody>
          <a:bodyPr anchor="b">
            <a:normAutofit/>
          </a:bodyPr>
          <a:lstStyle/>
          <a:p>
            <a:pPr algn="l"/>
            <a:r>
              <a:rPr lang="en-US" sz="4000" dirty="0"/>
              <a:t>Ce este </a:t>
            </a:r>
            <a:r>
              <a:rPr lang="ro-RO" sz="4000" dirty="0"/>
              <a:t>uraniul?</a:t>
            </a:r>
            <a:r>
              <a:rPr lang="en-US" sz="4000" dirty="0"/>
              <a:t>	</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6900493" y="1732449"/>
            <a:ext cx="4403596" cy="4058751"/>
          </a:xfrm>
        </p:spPr>
        <p:txBody>
          <a:bodyPr anchor="t">
            <a:normAutofit/>
          </a:bodyPr>
          <a:lstStyle/>
          <a:p>
            <a:r>
              <a:rPr lang="ro-RO" sz="2400" dirty="0"/>
              <a:t>Uraniul este un element chimic radioactiv (pe tabelul periodic se găsește cu simbolul „</a:t>
            </a:r>
            <a:r>
              <a:rPr lang="ro-RO" sz="2400" u="sng" dirty="0"/>
              <a:t>U” ) care are un număr atomic egal cu 92 și o masă atomică egală cu 238.03.</a:t>
            </a:r>
            <a:endParaRPr lang="ro-RO" sz="2400" dirty="0"/>
          </a:p>
        </p:txBody>
      </p:sp>
    </p:spTree>
    <p:extLst>
      <p:ext uri="{BB962C8B-B14F-4D97-AF65-F5344CB8AC3E}">
        <p14:creationId xmlns:p14="http://schemas.microsoft.com/office/powerpoint/2010/main" val="2517438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765965" y="581575"/>
            <a:ext cx="4538124" cy="970450"/>
          </a:xfrm>
        </p:spPr>
        <p:txBody>
          <a:bodyPr anchor="b">
            <a:normAutofit fontScale="90000"/>
          </a:bodyPr>
          <a:lstStyle/>
          <a:p>
            <a:pPr algn="l"/>
            <a:r>
              <a:rPr lang="ro-RO" sz="4000" dirty="0"/>
              <a:t>Câți izotopi are uraniul?</a:t>
            </a:r>
            <a:br>
              <a:rPr lang="ro-RO" sz="4000" dirty="0"/>
            </a:br>
            <a:r>
              <a:rPr lang="en-US" sz="4000" dirty="0"/>
              <a:t>	</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6900493" y="1732449"/>
            <a:ext cx="4403596" cy="4058751"/>
          </a:xfrm>
        </p:spPr>
        <p:txBody>
          <a:bodyPr anchor="t">
            <a:normAutofit/>
          </a:bodyPr>
          <a:lstStyle/>
          <a:p>
            <a:r>
              <a:rPr lang="ro-RO" sz="2400" dirty="0"/>
              <a:t>Uraniul are un număr de 28 de izotopi (unii oameni de știință spun că are 37 de izotopi), dintre care 3 sunt naturali, iar noi despre aceia vom vorbi azi.</a:t>
            </a:r>
          </a:p>
        </p:txBody>
      </p:sp>
    </p:spTree>
    <p:extLst>
      <p:ext uri="{BB962C8B-B14F-4D97-AF65-F5344CB8AC3E}">
        <p14:creationId xmlns:p14="http://schemas.microsoft.com/office/powerpoint/2010/main" val="2048275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68483-15DB-439E-9EC0-70441C78E815}"/>
              </a:ext>
            </a:extLst>
          </p:cNvPr>
          <p:cNvSpPr>
            <a:spLocks noGrp="1"/>
          </p:cNvSpPr>
          <p:nvPr>
            <p:ph type="title"/>
          </p:nvPr>
        </p:nvSpPr>
        <p:spPr/>
        <p:txBody>
          <a:bodyPr>
            <a:normAutofit fontScale="90000"/>
          </a:bodyPr>
          <a:lstStyle/>
          <a:p>
            <a:r>
              <a:rPr lang="ro-RO" dirty="0"/>
              <a:t>Cei trei mușchetari </a:t>
            </a:r>
            <a:br>
              <a:rPr lang="ro-RO" dirty="0"/>
            </a:br>
            <a:r>
              <a:rPr lang="ro-RO" dirty="0"/>
              <a:t>(izotopi în acest caz)</a:t>
            </a:r>
            <a:endParaRPr lang="en-US" dirty="0"/>
          </a:p>
        </p:txBody>
      </p:sp>
      <p:sp>
        <p:nvSpPr>
          <p:cNvPr id="3" name="Content Placeholder 2">
            <a:extLst>
              <a:ext uri="{FF2B5EF4-FFF2-40B4-BE49-F238E27FC236}">
                <a16:creationId xmlns:a16="http://schemas.microsoft.com/office/drawing/2014/main" id="{B11D85A3-493F-4D19-B57D-B73A8C5A621C}"/>
              </a:ext>
            </a:extLst>
          </p:cNvPr>
          <p:cNvSpPr>
            <a:spLocks noGrp="1"/>
          </p:cNvSpPr>
          <p:nvPr>
            <p:ph idx="1"/>
          </p:nvPr>
        </p:nvSpPr>
        <p:spPr/>
        <p:txBody>
          <a:bodyPr/>
          <a:lstStyle/>
          <a:p>
            <a:r>
              <a:rPr lang="ro-RO" dirty="0"/>
              <a:t>Cei trei mușchetari (izotopi) sunt:</a:t>
            </a:r>
          </a:p>
        </p:txBody>
      </p:sp>
      <p:cxnSp>
        <p:nvCxnSpPr>
          <p:cNvPr id="5" name="Straight Connector 4">
            <a:extLst>
              <a:ext uri="{FF2B5EF4-FFF2-40B4-BE49-F238E27FC236}">
                <a16:creationId xmlns:a16="http://schemas.microsoft.com/office/drawing/2014/main" id="{6BD3584E-B597-4220-903B-57A5707FBA63}"/>
              </a:ext>
            </a:extLst>
          </p:cNvPr>
          <p:cNvCxnSpPr/>
          <p:nvPr/>
        </p:nvCxnSpPr>
        <p:spPr>
          <a:xfrm>
            <a:off x="5247861" y="2345635"/>
            <a:ext cx="1921565"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9E71AD5-897D-47DC-9B03-7C80787BCC5E}"/>
              </a:ext>
            </a:extLst>
          </p:cNvPr>
          <p:cNvSpPr txBox="1"/>
          <p:nvPr/>
        </p:nvSpPr>
        <p:spPr>
          <a:xfrm>
            <a:off x="6855451" y="2033687"/>
            <a:ext cx="1003903" cy="669029"/>
          </a:xfrm>
          <a:prstGeom prst="rect">
            <a:avLst/>
          </a:prstGeom>
          <a:noFill/>
        </p:spPr>
        <p:txBody>
          <a:bodyPr wrap="square" lIns="182880" tIns="0" bIns="91440" rtlCol="0">
            <a:spAutoFit/>
          </a:bodyPr>
          <a:lstStyle/>
          <a:p>
            <a:pPr>
              <a:lnSpc>
                <a:spcPct val="150000"/>
              </a:lnSpc>
            </a:pPr>
            <a:r>
              <a:rPr lang="ro-RO" sz="2800" dirty="0"/>
              <a:t>    U </a:t>
            </a:r>
            <a:endParaRPr lang="en-US" sz="2800" dirty="0"/>
          </a:p>
        </p:txBody>
      </p:sp>
      <p:sp>
        <p:nvSpPr>
          <p:cNvPr id="7" name="TextBox 6">
            <a:extLst>
              <a:ext uri="{FF2B5EF4-FFF2-40B4-BE49-F238E27FC236}">
                <a16:creationId xmlns:a16="http://schemas.microsoft.com/office/drawing/2014/main" id="{35B6B4D3-E2C3-4AE3-9F65-A906E544F209}"/>
              </a:ext>
            </a:extLst>
          </p:cNvPr>
          <p:cNvSpPr txBox="1"/>
          <p:nvPr/>
        </p:nvSpPr>
        <p:spPr>
          <a:xfrm>
            <a:off x="7047913" y="1998869"/>
            <a:ext cx="618978" cy="369332"/>
          </a:xfrm>
          <a:prstGeom prst="rect">
            <a:avLst/>
          </a:prstGeom>
          <a:noFill/>
        </p:spPr>
        <p:txBody>
          <a:bodyPr wrap="square" rtlCol="0">
            <a:spAutoFit/>
          </a:bodyPr>
          <a:lstStyle/>
          <a:p>
            <a:r>
              <a:rPr lang="ro-RO" dirty="0"/>
              <a:t>238</a:t>
            </a:r>
            <a:endParaRPr lang="en-US" dirty="0"/>
          </a:p>
        </p:txBody>
      </p:sp>
      <p:cxnSp>
        <p:nvCxnSpPr>
          <p:cNvPr id="9" name="Straight Connector 8">
            <a:extLst>
              <a:ext uri="{FF2B5EF4-FFF2-40B4-BE49-F238E27FC236}">
                <a16:creationId xmlns:a16="http://schemas.microsoft.com/office/drawing/2014/main" id="{238DDEE0-1CFF-4087-B71F-5841B7C33F54}"/>
              </a:ext>
            </a:extLst>
          </p:cNvPr>
          <p:cNvCxnSpPr/>
          <p:nvPr/>
        </p:nvCxnSpPr>
        <p:spPr>
          <a:xfrm>
            <a:off x="5247861" y="2345635"/>
            <a:ext cx="0" cy="9743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32CBB29-2C17-40BC-9BB0-409DF57521B8}"/>
              </a:ext>
            </a:extLst>
          </p:cNvPr>
          <p:cNvCxnSpPr/>
          <p:nvPr/>
        </p:nvCxnSpPr>
        <p:spPr>
          <a:xfrm>
            <a:off x="5247861" y="3305908"/>
            <a:ext cx="1921565"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34F69DA-FDC4-4551-B392-21A8AFBBDFE9}"/>
              </a:ext>
            </a:extLst>
          </p:cNvPr>
          <p:cNvSpPr txBox="1"/>
          <p:nvPr/>
        </p:nvSpPr>
        <p:spPr>
          <a:xfrm>
            <a:off x="7321930" y="3099477"/>
            <a:ext cx="689921" cy="523220"/>
          </a:xfrm>
          <a:prstGeom prst="rect">
            <a:avLst/>
          </a:prstGeom>
          <a:noFill/>
        </p:spPr>
        <p:txBody>
          <a:bodyPr wrap="square" rtlCol="0">
            <a:spAutoFit/>
          </a:bodyPr>
          <a:lstStyle/>
          <a:p>
            <a:r>
              <a:rPr lang="ro-RO" sz="2800" dirty="0"/>
              <a:t>U</a:t>
            </a:r>
            <a:endParaRPr lang="en-US" sz="2800" dirty="0"/>
          </a:p>
        </p:txBody>
      </p:sp>
      <p:sp>
        <p:nvSpPr>
          <p:cNvPr id="13" name="TextBox 12">
            <a:extLst>
              <a:ext uri="{FF2B5EF4-FFF2-40B4-BE49-F238E27FC236}">
                <a16:creationId xmlns:a16="http://schemas.microsoft.com/office/drawing/2014/main" id="{60A4AD58-957C-492E-A49C-6DDB940ADD6B}"/>
              </a:ext>
            </a:extLst>
          </p:cNvPr>
          <p:cNvSpPr txBox="1"/>
          <p:nvPr/>
        </p:nvSpPr>
        <p:spPr>
          <a:xfrm>
            <a:off x="7047913" y="2959141"/>
            <a:ext cx="689919" cy="369332"/>
          </a:xfrm>
          <a:prstGeom prst="rect">
            <a:avLst/>
          </a:prstGeom>
          <a:noFill/>
        </p:spPr>
        <p:txBody>
          <a:bodyPr wrap="square" rtlCol="0">
            <a:spAutoFit/>
          </a:bodyPr>
          <a:lstStyle/>
          <a:p>
            <a:r>
              <a:rPr lang="ro-RO" dirty="0"/>
              <a:t>235</a:t>
            </a:r>
            <a:endParaRPr lang="en-US" dirty="0"/>
          </a:p>
        </p:txBody>
      </p:sp>
      <p:cxnSp>
        <p:nvCxnSpPr>
          <p:cNvPr id="15" name="Straight Connector 14">
            <a:extLst>
              <a:ext uri="{FF2B5EF4-FFF2-40B4-BE49-F238E27FC236}">
                <a16:creationId xmlns:a16="http://schemas.microsoft.com/office/drawing/2014/main" id="{92F39364-AD9F-4AF6-AC0B-8864B819D0D2}"/>
              </a:ext>
            </a:extLst>
          </p:cNvPr>
          <p:cNvCxnSpPr/>
          <p:nvPr/>
        </p:nvCxnSpPr>
        <p:spPr>
          <a:xfrm>
            <a:off x="5247861" y="3319975"/>
            <a:ext cx="0" cy="11394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7CD2B2E-6778-4FA2-83E7-AE7737CD91D5}"/>
              </a:ext>
            </a:extLst>
          </p:cNvPr>
          <p:cNvCxnSpPr/>
          <p:nvPr/>
        </p:nvCxnSpPr>
        <p:spPr>
          <a:xfrm>
            <a:off x="5247861" y="4445391"/>
            <a:ext cx="1921565"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9FFADCA-9693-4872-A916-FFCDEE14115B}"/>
              </a:ext>
            </a:extLst>
          </p:cNvPr>
          <p:cNvSpPr txBox="1"/>
          <p:nvPr/>
        </p:nvSpPr>
        <p:spPr>
          <a:xfrm>
            <a:off x="7321930" y="4290646"/>
            <a:ext cx="537422" cy="523220"/>
          </a:xfrm>
          <a:prstGeom prst="rect">
            <a:avLst/>
          </a:prstGeom>
          <a:noFill/>
        </p:spPr>
        <p:txBody>
          <a:bodyPr wrap="square" rtlCol="0">
            <a:spAutoFit/>
          </a:bodyPr>
          <a:lstStyle/>
          <a:p>
            <a:r>
              <a:rPr lang="ro-RO" sz="2800" dirty="0"/>
              <a:t>U</a:t>
            </a:r>
            <a:endParaRPr lang="en-US" sz="2800" dirty="0"/>
          </a:p>
        </p:txBody>
      </p:sp>
      <p:sp>
        <p:nvSpPr>
          <p:cNvPr id="21" name="TextBox 20">
            <a:extLst>
              <a:ext uri="{FF2B5EF4-FFF2-40B4-BE49-F238E27FC236}">
                <a16:creationId xmlns:a16="http://schemas.microsoft.com/office/drawing/2014/main" id="{94238B64-C442-45AD-B1C2-B87EE5AB482A}"/>
              </a:ext>
            </a:extLst>
          </p:cNvPr>
          <p:cNvSpPr txBox="1"/>
          <p:nvPr/>
        </p:nvSpPr>
        <p:spPr>
          <a:xfrm>
            <a:off x="7047913" y="4137688"/>
            <a:ext cx="689917" cy="369332"/>
          </a:xfrm>
          <a:prstGeom prst="rect">
            <a:avLst/>
          </a:prstGeom>
          <a:noFill/>
        </p:spPr>
        <p:txBody>
          <a:bodyPr wrap="square" rtlCol="0">
            <a:spAutoFit/>
          </a:bodyPr>
          <a:lstStyle/>
          <a:p>
            <a:r>
              <a:rPr lang="ro-RO" dirty="0"/>
              <a:t>234</a:t>
            </a:r>
            <a:endParaRPr lang="en-US" dirty="0"/>
          </a:p>
        </p:txBody>
      </p:sp>
      <p:cxnSp>
        <p:nvCxnSpPr>
          <p:cNvPr id="23" name="Straight Connector 22">
            <a:extLst>
              <a:ext uri="{FF2B5EF4-FFF2-40B4-BE49-F238E27FC236}">
                <a16:creationId xmlns:a16="http://schemas.microsoft.com/office/drawing/2014/main" id="{38AFB40E-88B8-4E8A-8704-ACBD5E0CC163}"/>
              </a:ext>
            </a:extLst>
          </p:cNvPr>
          <p:cNvCxnSpPr>
            <a:stCxn id="6" idx="3"/>
          </p:cNvCxnSpPr>
          <p:nvPr/>
        </p:nvCxnSpPr>
        <p:spPr>
          <a:xfrm>
            <a:off x="7859354" y="2368202"/>
            <a:ext cx="1298714" cy="731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F0093AB-9E28-43B6-ACE7-5F9C898FBD85}"/>
              </a:ext>
            </a:extLst>
          </p:cNvPr>
          <p:cNvCxnSpPr>
            <a:stCxn id="18" idx="3"/>
          </p:cNvCxnSpPr>
          <p:nvPr/>
        </p:nvCxnSpPr>
        <p:spPr>
          <a:xfrm flipV="1">
            <a:off x="7859352" y="3622697"/>
            <a:ext cx="1326851" cy="92955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23863D7-8C30-4BB2-A300-804168093B5E}"/>
              </a:ext>
            </a:extLst>
          </p:cNvPr>
          <p:cNvCxnSpPr>
            <a:cxnSpLocks/>
            <a:stCxn id="12" idx="3"/>
          </p:cNvCxnSpPr>
          <p:nvPr/>
        </p:nvCxnSpPr>
        <p:spPr>
          <a:xfrm>
            <a:off x="8011851" y="3361087"/>
            <a:ext cx="949269" cy="1091"/>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48144E7-9FCB-4A93-87CC-73E1E4E034FE}"/>
              </a:ext>
            </a:extLst>
          </p:cNvPr>
          <p:cNvSpPr txBox="1"/>
          <p:nvPr/>
        </p:nvSpPr>
        <p:spPr>
          <a:xfrm>
            <a:off x="9158068" y="3143807"/>
            <a:ext cx="1083212" cy="646331"/>
          </a:xfrm>
          <a:prstGeom prst="rect">
            <a:avLst/>
          </a:prstGeom>
          <a:noFill/>
        </p:spPr>
        <p:txBody>
          <a:bodyPr wrap="square" rtlCol="0">
            <a:spAutoFit/>
          </a:bodyPr>
          <a:lstStyle/>
          <a:p>
            <a:r>
              <a:rPr lang="ro-RO" sz="3600" dirty="0"/>
              <a:t>U</a:t>
            </a:r>
            <a:endParaRPr lang="en-US" sz="3600" dirty="0"/>
          </a:p>
        </p:txBody>
      </p:sp>
      <p:sp>
        <p:nvSpPr>
          <p:cNvPr id="30" name="TextBox 29">
            <a:extLst>
              <a:ext uri="{FF2B5EF4-FFF2-40B4-BE49-F238E27FC236}">
                <a16:creationId xmlns:a16="http://schemas.microsoft.com/office/drawing/2014/main" id="{6452B775-2EF7-4D2C-B797-709AD1B4E2E0}"/>
              </a:ext>
            </a:extLst>
          </p:cNvPr>
          <p:cNvSpPr txBox="1"/>
          <p:nvPr/>
        </p:nvSpPr>
        <p:spPr>
          <a:xfrm>
            <a:off x="8784337" y="3013920"/>
            <a:ext cx="886869" cy="369332"/>
          </a:xfrm>
          <a:prstGeom prst="rect">
            <a:avLst/>
          </a:prstGeom>
          <a:noFill/>
        </p:spPr>
        <p:txBody>
          <a:bodyPr wrap="square" rtlCol="0">
            <a:spAutoFit/>
          </a:bodyPr>
          <a:lstStyle/>
          <a:p>
            <a:r>
              <a:rPr lang="ro-RO" dirty="0"/>
              <a:t>238.03</a:t>
            </a:r>
            <a:endParaRPr lang="en-US" dirty="0"/>
          </a:p>
        </p:txBody>
      </p:sp>
      <p:cxnSp>
        <p:nvCxnSpPr>
          <p:cNvPr id="32" name="Straight Connector 31">
            <a:extLst>
              <a:ext uri="{FF2B5EF4-FFF2-40B4-BE49-F238E27FC236}">
                <a16:creationId xmlns:a16="http://schemas.microsoft.com/office/drawing/2014/main" id="{29FA56B5-D010-453C-90FA-C9D7F5CF8B8C}"/>
              </a:ext>
            </a:extLst>
          </p:cNvPr>
          <p:cNvCxnSpPr/>
          <p:nvPr/>
        </p:nvCxnSpPr>
        <p:spPr>
          <a:xfrm flipV="1">
            <a:off x="9453489" y="1758462"/>
            <a:ext cx="604911" cy="125545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BB96B3D-F6E2-4C37-8044-1596FD2834AF}"/>
              </a:ext>
            </a:extLst>
          </p:cNvPr>
          <p:cNvCxnSpPr/>
          <p:nvPr/>
        </p:nvCxnSpPr>
        <p:spPr>
          <a:xfrm>
            <a:off x="9537883" y="3466972"/>
            <a:ext cx="1195766" cy="453053"/>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95029A6C-114C-4379-9E42-D09E92B6B1EE}"/>
              </a:ext>
            </a:extLst>
          </p:cNvPr>
          <p:cNvSpPr txBox="1"/>
          <p:nvPr/>
        </p:nvSpPr>
        <p:spPr>
          <a:xfrm>
            <a:off x="9537883" y="1146938"/>
            <a:ext cx="1729674" cy="369332"/>
          </a:xfrm>
          <a:prstGeom prst="rect">
            <a:avLst/>
          </a:prstGeom>
          <a:noFill/>
        </p:spPr>
        <p:txBody>
          <a:bodyPr wrap="square" rtlCol="0">
            <a:spAutoFit/>
          </a:bodyPr>
          <a:lstStyle/>
          <a:p>
            <a:r>
              <a:rPr lang="ro-RO" dirty="0"/>
              <a:t>Masa atomică</a:t>
            </a:r>
            <a:endParaRPr lang="en-US" dirty="0"/>
          </a:p>
        </p:txBody>
      </p:sp>
      <p:sp>
        <p:nvSpPr>
          <p:cNvPr id="39" name="TextBox 38">
            <a:extLst>
              <a:ext uri="{FF2B5EF4-FFF2-40B4-BE49-F238E27FC236}">
                <a16:creationId xmlns:a16="http://schemas.microsoft.com/office/drawing/2014/main" id="{F9F36350-0117-4728-90A6-A796451D620D}"/>
              </a:ext>
            </a:extLst>
          </p:cNvPr>
          <p:cNvSpPr txBox="1"/>
          <p:nvPr/>
        </p:nvSpPr>
        <p:spPr>
          <a:xfrm>
            <a:off x="10733649" y="3790138"/>
            <a:ext cx="1350490" cy="369332"/>
          </a:xfrm>
          <a:prstGeom prst="rect">
            <a:avLst/>
          </a:prstGeom>
          <a:noFill/>
        </p:spPr>
        <p:txBody>
          <a:bodyPr wrap="square" rtlCol="0">
            <a:spAutoFit/>
          </a:bodyPr>
          <a:lstStyle/>
          <a:p>
            <a:r>
              <a:rPr lang="ro-RO" dirty="0"/>
              <a:t>Elementul</a:t>
            </a:r>
            <a:endParaRPr lang="en-US" dirty="0"/>
          </a:p>
        </p:txBody>
      </p:sp>
      <p:cxnSp>
        <p:nvCxnSpPr>
          <p:cNvPr id="42" name="Straight Connector 41">
            <a:extLst>
              <a:ext uri="{FF2B5EF4-FFF2-40B4-BE49-F238E27FC236}">
                <a16:creationId xmlns:a16="http://schemas.microsoft.com/office/drawing/2014/main" id="{A01BA71B-AFCB-4E84-9B77-D8064838D2DE}"/>
              </a:ext>
            </a:extLst>
          </p:cNvPr>
          <p:cNvCxnSpPr>
            <a:cxnSpLocks/>
          </p:cNvCxnSpPr>
          <p:nvPr/>
        </p:nvCxnSpPr>
        <p:spPr>
          <a:xfrm>
            <a:off x="10056895" y="3645710"/>
            <a:ext cx="78871" cy="477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5231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D5A3A-AE69-4A9E-8EBA-8BC7F3B08351}"/>
              </a:ext>
            </a:extLst>
          </p:cNvPr>
          <p:cNvSpPr>
            <a:spLocks noGrp="1"/>
          </p:cNvSpPr>
          <p:nvPr>
            <p:ph type="title"/>
          </p:nvPr>
        </p:nvSpPr>
        <p:spPr/>
        <p:txBody>
          <a:bodyPr/>
          <a:lstStyle/>
          <a:p>
            <a:r>
              <a:rPr lang="ro-RO" dirty="0"/>
              <a:t>Uraniu I</a:t>
            </a:r>
            <a:endParaRPr lang="en-US" dirty="0"/>
          </a:p>
        </p:txBody>
      </p:sp>
      <p:sp>
        <p:nvSpPr>
          <p:cNvPr id="3" name="Content Placeholder 2">
            <a:extLst>
              <a:ext uri="{FF2B5EF4-FFF2-40B4-BE49-F238E27FC236}">
                <a16:creationId xmlns:a16="http://schemas.microsoft.com/office/drawing/2014/main" id="{86CAF335-7036-4480-A824-4657DD653B25}"/>
              </a:ext>
            </a:extLst>
          </p:cNvPr>
          <p:cNvSpPr>
            <a:spLocks noGrp="1"/>
          </p:cNvSpPr>
          <p:nvPr>
            <p:ph idx="1"/>
          </p:nvPr>
        </p:nvSpPr>
        <p:spPr/>
        <p:txBody>
          <a:bodyPr/>
          <a:lstStyle/>
          <a:p>
            <a:r>
              <a:rPr lang="ro-RO" dirty="0"/>
              <a:t>U este numit și  Uraniu I (U ) (numele vechi):   - Are un timp de înjumătățire de 4,5 miliarde de ani</a:t>
            </a:r>
          </a:p>
          <a:p>
            <a:pPr marL="36900" indent="0">
              <a:buNone/>
            </a:pPr>
            <a:r>
              <a:rPr lang="ro-RO" dirty="0"/>
              <a:t>                                                                                -Este folosit pentru datarea rocilor foarte vechi prin metoda uraniu-plumb</a:t>
            </a:r>
          </a:p>
          <a:p>
            <a:pPr marL="36900" indent="0">
              <a:buNone/>
            </a:pPr>
            <a:r>
              <a:rPr lang="ro-RO" dirty="0"/>
              <a:t>                                                                                -Mai este folosit și pentru blindajele tancurilor și pentru confecționarea munițiilor capabile de a străpunge blindaje.</a:t>
            </a:r>
          </a:p>
        </p:txBody>
      </p:sp>
      <p:sp>
        <p:nvSpPr>
          <p:cNvPr id="4" name="TextBox 3">
            <a:extLst>
              <a:ext uri="{FF2B5EF4-FFF2-40B4-BE49-F238E27FC236}">
                <a16:creationId xmlns:a16="http://schemas.microsoft.com/office/drawing/2014/main" id="{197F3CEA-CE7E-401D-B65A-D74AA4C29317}"/>
              </a:ext>
            </a:extLst>
          </p:cNvPr>
          <p:cNvSpPr txBox="1"/>
          <p:nvPr/>
        </p:nvSpPr>
        <p:spPr>
          <a:xfrm>
            <a:off x="1026335" y="1891784"/>
            <a:ext cx="746193" cy="369332"/>
          </a:xfrm>
          <a:prstGeom prst="rect">
            <a:avLst/>
          </a:prstGeom>
          <a:noFill/>
        </p:spPr>
        <p:txBody>
          <a:bodyPr wrap="square" rtlCol="0">
            <a:spAutoFit/>
          </a:bodyPr>
          <a:lstStyle/>
          <a:p>
            <a:r>
              <a:rPr lang="ro-RO" dirty="0"/>
              <a:t>238</a:t>
            </a:r>
            <a:endParaRPr lang="en-US" dirty="0"/>
          </a:p>
        </p:txBody>
      </p:sp>
      <p:sp>
        <p:nvSpPr>
          <p:cNvPr id="6" name="TextBox 5">
            <a:extLst>
              <a:ext uri="{FF2B5EF4-FFF2-40B4-BE49-F238E27FC236}">
                <a16:creationId xmlns:a16="http://schemas.microsoft.com/office/drawing/2014/main" id="{44731BAF-B0F6-48FA-A83F-340784401712}"/>
              </a:ext>
            </a:extLst>
          </p:cNvPr>
          <p:cNvSpPr txBox="1"/>
          <p:nvPr/>
        </p:nvSpPr>
        <p:spPr>
          <a:xfrm>
            <a:off x="4572001" y="2261116"/>
            <a:ext cx="928468" cy="369332"/>
          </a:xfrm>
          <a:prstGeom prst="rect">
            <a:avLst/>
          </a:prstGeom>
          <a:noFill/>
        </p:spPr>
        <p:txBody>
          <a:bodyPr wrap="square" rtlCol="0">
            <a:spAutoFit/>
          </a:bodyPr>
          <a:lstStyle/>
          <a:p>
            <a:r>
              <a:rPr lang="ro-RO" dirty="0"/>
              <a:t>I</a:t>
            </a:r>
            <a:endParaRPr lang="en-US" dirty="0"/>
          </a:p>
        </p:txBody>
      </p:sp>
    </p:spTree>
    <p:extLst>
      <p:ext uri="{BB962C8B-B14F-4D97-AF65-F5344CB8AC3E}">
        <p14:creationId xmlns:p14="http://schemas.microsoft.com/office/powerpoint/2010/main" val="1696892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4C104-8552-422A-8A47-36C1ACFFCD1E}"/>
              </a:ext>
            </a:extLst>
          </p:cNvPr>
          <p:cNvSpPr>
            <a:spLocks noGrp="1"/>
          </p:cNvSpPr>
          <p:nvPr>
            <p:ph type="title"/>
          </p:nvPr>
        </p:nvSpPr>
        <p:spPr/>
        <p:txBody>
          <a:bodyPr/>
          <a:lstStyle/>
          <a:p>
            <a:r>
              <a:rPr lang="ro-RO" dirty="0"/>
              <a:t>Uraniu II</a:t>
            </a:r>
            <a:endParaRPr lang="en-US" dirty="0"/>
          </a:p>
        </p:txBody>
      </p:sp>
      <p:sp>
        <p:nvSpPr>
          <p:cNvPr id="3" name="Content Placeholder 2">
            <a:extLst>
              <a:ext uri="{FF2B5EF4-FFF2-40B4-BE49-F238E27FC236}">
                <a16:creationId xmlns:a16="http://schemas.microsoft.com/office/drawing/2014/main" id="{7D9FB52F-8CE0-4BA1-AA5A-9EAEFE10E51A}"/>
              </a:ext>
            </a:extLst>
          </p:cNvPr>
          <p:cNvSpPr>
            <a:spLocks noGrp="1"/>
          </p:cNvSpPr>
          <p:nvPr>
            <p:ph idx="1"/>
          </p:nvPr>
        </p:nvSpPr>
        <p:spPr/>
        <p:txBody>
          <a:bodyPr/>
          <a:lstStyle/>
          <a:p>
            <a:r>
              <a:rPr lang="ro-RO" dirty="0"/>
              <a:t>U mai este numit și uranium II (U  ) (tot ca nume vechi). Deși acesta se gasește în urme infime*, este util în studii hidrologice, fiind folosit pentru a studia procesele de eroziune a rocilor, deoarece se dizolvă ușor în apă în anumite condiții geologice.</a:t>
            </a:r>
          </a:p>
          <a:p>
            <a:endParaRPr lang="ro-RO" dirty="0"/>
          </a:p>
          <a:p>
            <a:endParaRPr lang="ro-RO" dirty="0"/>
          </a:p>
          <a:p>
            <a:endParaRPr lang="ro-RO" dirty="0"/>
          </a:p>
          <a:p>
            <a:pPr marL="36900" indent="0">
              <a:buNone/>
            </a:pPr>
            <a:r>
              <a:rPr lang="ro-RO" dirty="0"/>
              <a:t>Infim=</a:t>
            </a:r>
            <a:r>
              <a:rPr lang="pt-BR" b="0" i="0" dirty="0">
                <a:effectLst/>
                <a:latin typeface="Arial" panose="020B0604020202020204" pitchFamily="34" charset="0"/>
              </a:rPr>
              <a:t> adj. </a:t>
            </a:r>
            <a:r>
              <a:rPr lang="pt-BR" b="1" dirty="0">
                <a:effectLst/>
                <a:latin typeface="Arial" panose="020B0604020202020204" pitchFamily="34" charset="0"/>
              </a:rPr>
              <a:t>Extrem de mic; minuscul, neînsemnat</a:t>
            </a:r>
            <a:r>
              <a:rPr lang="pt-BR" b="0" i="0" dirty="0">
                <a:effectLst/>
                <a:latin typeface="Arial" panose="020B0604020202020204" pitchFamily="34" charset="0"/>
              </a:rPr>
              <a:t>. </a:t>
            </a:r>
            <a:endParaRPr lang="ro-RO" dirty="0"/>
          </a:p>
        </p:txBody>
      </p:sp>
      <p:sp>
        <p:nvSpPr>
          <p:cNvPr id="4" name="TextBox 3">
            <a:extLst>
              <a:ext uri="{FF2B5EF4-FFF2-40B4-BE49-F238E27FC236}">
                <a16:creationId xmlns:a16="http://schemas.microsoft.com/office/drawing/2014/main" id="{604BC3DD-DCAB-4F04-B729-5F0BA89B9DD7}"/>
              </a:ext>
            </a:extLst>
          </p:cNvPr>
          <p:cNvSpPr txBox="1"/>
          <p:nvPr/>
        </p:nvSpPr>
        <p:spPr>
          <a:xfrm>
            <a:off x="1026336" y="1905000"/>
            <a:ext cx="718057" cy="369332"/>
          </a:xfrm>
          <a:prstGeom prst="rect">
            <a:avLst/>
          </a:prstGeom>
          <a:noFill/>
        </p:spPr>
        <p:txBody>
          <a:bodyPr wrap="square" rtlCol="0">
            <a:spAutoFit/>
          </a:bodyPr>
          <a:lstStyle/>
          <a:p>
            <a:r>
              <a:rPr lang="ro-RO" dirty="0"/>
              <a:t>234</a:t>
            </a:r>
            <a:endParaRPr lang="en-US" dirty="0"/>
          </a:p>
        </p:txBody>
      </p:sp>
      <p:sp>
        <p:nvSpPr>
          <p:cNvPr id="6" name="TextBox 5">
            <a:extLst>
              <a:ext uri="{FF2B5EF4-FFF2-40B4-BE49-F238E27FC236}">
                <a16:creationId xmlns:a16="http://schemas.microsoft.com/office/drawing/2014/main" id="{DABFCAC1-F481-4449-AA28-ABB9A0DD5AB9}"/>
              </a:ext>
            </a:extLst>
          </p:cNvPr>
          <p:cNvSpPr txBox="1"/>
          <p:nvPr/>
        </p:nvSpPr>
        <p:spPr>
          <a:xfrm>
            <a:off x="5247248" y="2269624"/>
            <a:ext cx="562708" cy="369332"/>
          </a:xfrm>
          <a:prstGeom prst="rect">
            <a:avLst/>
          </a:prstGeom>
          <a:noFill/>
        </p:spPr>
        <p:txBody>
          <a:bodyPr wrap="square" rtlCol="0">
            <a:spAutoFit/>
          </a:bodyPr>
          <a:lstStyle/>
          <a:p>
            <a:r>
              <a:rPr lang="ro-RO" dirty="0"/>
              <a:t>II</a:t>
            </a:r>
            <a:endParaRPr lang="en-US" dirty="0"/>
          </a:p>
        </p:txBody>
      </p:sp>
    </p:spTree>
    <p:extLst>
      <p:ext uri="{BB962C8B-B14F-4D97-AF65-F5344CB8AC3E}">
        <p14:creationId xmlns:p14="http://schemas.microsoft.com/office/powerpoint/2010/main" val="684858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9CA01-391E-4669-908B-1DE2B07FBBD7}"/>
              </a:ext>
            </a:extLst>
          </p:cNvPr>
          <p:cNvSpPr>
            <a:spLocks noGrp="1"/>
          </p:cNvSpPr>
          <p:nvPr>
            <p:ph type="title"/>
          </p:nvPr>
        </p:nvSpPr>
        <p:spPr/>
        <p:txBody>
          <a:bodyPr/>
          <a:lstStyle/>
          <a:p>
            <a:r>
              <a:rPr lang="ro-RO" dirty="0"/>
              <a:t>Actinouraniu (AcU)</a:t>
            </a:r>
            <a:endParaRPr lang="en-US" dirty="0"/>
          </a:p>
        </p:txBody>
      </p:sp>
      <p:sp>
        <p:nvSpPr>
          <p:cNvPr id="3" name="Content Placeholder 2">
            <a:extLst>
              <a:ext uri="{FF2B5EF4-FFF2-40B4-BE49-F238E27FC236}">
                <a16:creationId xmlns:a16="http://schemas.microsoft.com/office/drawing/2014/main" id="{F6A7C15B-2A2F-45FB-9BF3-A12249770C3E}"/>
              </a:ext>
            </a:extLst>
          </p:cNvPr>
          <p:cNvSpPr>
            <a:spLocks noGrp="1"/>
          </p:cNvSpPr>
          <p:nvPr>
            <p:ph idx="1"/>
          </p:nvPr>
        </p:nvSpPr>
        <p:spPr>
          <a:xfrm>
            <a:off x="1096675" y="2076450"/>
            <a:ext cx="10353762" cy="3714749"/>
          </a:xfrm>
        </p:spPr>
        <p:txBody>
          <a:bodyPr>
            <a:normAutofit fontScale="92500" lnSpcReduction="10000"/>
          </a:bodyPr>
          <a:lstStyle/>
          <a:p>
            <a:r>
              <a:rPr lang="ro-RO" dirty="0"/>
              <a:t>După cum v-ați fi putut da seama, U    nu este denumirea veche pentru     U, pe bune acum, Actinouraniu (AcU) este denumirea veche pentru   U     . Acesta este folosit pentru energia nucleară, fiind singurul izotop natural fisionabil*.De asemenea , acesta mai este folosit și în armele nucleare, în concentrații mai mari (peste 90%).</a:t>
            </a:r>
          </a:p>
          <a:p>
            <a:endParaRPr lang="ro-RO" dirty="0"/>
          </a:p>
          <a:p>
            <a:endParaRPr lang="ro-RO" dirty="0"/>
          </a:p>
          <a:p>
            <a:endParaRPr lang="ro-RO" dirty="0"/>
          </a:p>
          <a:p>
            <a:pPr marL="36900" indent="0">
              <a:buNone/>
            </a:pPr>
            <a:r>
              <a:rPr lang="ro-RO" dirty="0"/>
              <a:t>Fisiunea=</a:t>
            </a:r>
            <a:r>
              <a:rPr lang="en-US" b="0" i="0" dirty="0">
                <a:effectLst/>
                <a:latin typeface="Arial" panose="020B0604020202020204" pitchFamily="34" charset="0"/>
              </a:rPr>
              <a:t> </a:t>
            </a:r>
            <a:r>
              <a:rPr lang="en-US" b="1" dirty="0" err="1">
                <a:effectLst/>
                <a:latin typeface="Arial" panose="020B0604020202020204" pitchFamily="34" charset="0"/>
              </a:rPr>
              <a:t>proces</a:t>
            </a:r>
            <a:r>
              <a:rPr lang="en-US" b="1" dirty="0">
                <a:effectLst/>
                <a:latin typeface="Arial" panose="020B0604020202020204" pitchFamily="34" charset="0"/>
              </a:rPr>
              <a:t> </a:t>
            </a:r>
            <a:r>
              <a:rPr lang="en-US" b="1" dirty="0" err="1">
                <a:effectLst/>
                <a:latin typeface="Arial" panose="020B0604020202020204" pitchFamily="34" charset="0"/>
              </a:rPr>
              <a:t>în</a:t>
            </a:r>
            <a:r>
              <a:rPr lang="en-US" b="1" dirty="0">
                <a:effectLst/>
                <a:latin typeface="Arial" panose="020B0604020202020204" pitchFamily="34" charset="0"/>
              </a:rPr>
              <a:t> care </a:t>
            </a:r>
            <a:r>
              <a:rPr lang="en-US" b="1" dirty="0" err="1">
                <a:effectLst/>
                <a:latin typeface="Arial" panose="020B0604020202020204" pitchFamily="34" charset="0"/>
              </a:rPr>
              <a:t>nucleul</a:t>
            </a:r>
            <a:r>
              <a:rPr lang="en-US" b="1" dirty="0">
                <a:effectLst/>
                <a:latin typeface="Arial" panose="020B0604020202020204" pitchFamily="34" charset="0"/>
              </a:rPr>
              <a:t> </a:t>
            </a:r>
            <a:r>
              <a:rPr lang="en-US" b="1" dirty="0" err="1">
                <a:effectLst/>
                <a:latin typeface="Arial" panose="020B0604020202020204" pitchFamily="34" charset="0"/>
              </a:rPr>
              <a:t>unui</a:t>
            </a:r>
            <a:r>
              <a:rPr lang="en-US" b="1" dirty="0">
                <a:effectLst/>
                <a:latin typeface="Arial" panose="020B0604020202020204" pitchFamily="34" charset="0"/>
              </a:rPr>
              <a:t> atom se </a:t>
            </a:r>
            <a:r>
              <a:rPr lang="en-US" b="1" dirty="0" err="1">
                <a:effectLst/>
                <a:latin typeface="Arial" panose="020B0604020202020204" pitchFamily="34" charset="0"/>
              </a:rPr>
              <a:t>rupe</a:t>
            </a:r>
            <a:r>
              <a:rPr lang="en-US" b="1" dirty="0">
                <a:effectLst/>
                <a:latin typeface="Arial" panose="020B0604020202020204" pitchFamily="34" charset="0"/>
              </a:rPr>
              <a:t> </a:t>
            </a:r>
            <a:r>
              <a:rPr lang="en-US" b="1" dirty="0" err="1">
                <a:effectLst/>
                <a:latin typeface="Arial" panose="020B0604020202020204" pitchFamily="34" charset="0"/>
              </a:rPr>
              <a:t>în</a:t>
            </a:r>
            <a:r>
              <a:rPr lang="en-US" b="1" dirty="0">
                <a:effectLst/>
                <a:latin typeface="Arial" panose="020B0604020202020204" pitchFamily="34" charset="0"/>
              </a:rPr>
              <a:t> </a:t>
            </a:r>
            <a:r>
              <a:rPr lang="en-US" b="1" dirty="0" err="1">
                <a:effectLst/>
                <a:latin typeface="Arial" panose="020B0604020202020204" pitchFamily="34" charset="0"/>
              </a:rPr>
              <a:t>două</a:t>
            </a:r>
            <a:r>
              <a:rPr lang="en-US" b="1" dirty="0">
                <a:effectLst/>
                <a:latin typeface="Arial" panose="020B0604020202020204" pitchFamily="34" charset="0"/>
              </a:rPr>
              <a:t> </a:t>
            </a:r>
            <a:r>
              <a:rPr lang="en-US" b="1" dirty="0" err="1">
                <a:effectLst/>
                <a:latin typeface="Arial" panose="020B0604020202020204" pitchFamily="34" charset="0"/>
              </a:rPr>
              <a:t>sau</a:t>
            </a:r>
            <a:r>
              <a:rPr lang="en-US" b="1" dirty="0">
                <a:effectLst/>
                <a:latin typeface="Arial" panose="020B0604020202020204" pitchFamily="34" charset="0"/>
              </a:rPr>
              <a:t> </a:t>
            </a:r>
            <a:r>
              <a:rPr lang="en-US" b="1" dirty="0" err="1">
                <a:effectLst/>
                <a:latin typeface="Arial" panose="020B0604020202020204" pitchFamily="34" charset="0"/>
              </a:rPr>
              <a:t>mai</a:t>
            </a:r>
            <a:r>
              <a:rPr lang="en-US" b="1" dirty="0">
                <a:effectLst/>
                <a:latin typeface="Arial" panose="020B0604020202020204" pitchFamily="34" charset="0"/>
              </a:rPr>
              <a:t> </a:t>
            </a:r>
            <a:r>
              <a:rPr lang="en-US" b="1" dirty="0" err="1">
                <a:effectLst/>
                <a:latin typeface="Arial" panose="020B0604020202020204" pitchFamily="34" charset="0"/>
              </a:rPr>
              <a:t>multe</a:t>
            </a:r>
            <a:r>
              <a:rPr lang="en-US" b="1" dirty="0">
                <a:effectLst/>
                <a:latin typeface="Arial" panose="020B0604020202020204" pitchFamily="34" charset="0"/>
              </a:rPr>
              <a:t> </a:t>
            </a:r>
            <a:r>
              <a:rPr lang="en-US" b="1" dirty="0" err="1">
                <a:effectLst/>
                <a:latin typeface="Arial" panose="020B0604020202020204" pitchFamily="34" charset="0"/>
              </a:rPr>
              <a:t>nuclee</a:t>
            </a:r>
            <a:r>
              <a:rPr lang="en-US" b="1" dirty="0">
                <a:effectLst/>
                <a:latin typeface="Arial" panose="020B0604020202020204" pitchFamily="34" charset="0"/>
              </a:rPr>
              <a:t> </a:t>
            </a:r>
            <a:r>
              <a:rPr lang="en-US" b="1" dirty="0" err="1">
                <a:effectLst/>
                <a:latin typeface="Arial" panose="020B0604020202020204" pitchFamily="34" charset="0"/>
              </a:rPr>
              <a:t>mai</a:t>
            </a:r>
            <a:r>
              <a:rPr lang="en-US" b="1" dirty="0">
                <a:effectLst/>
                <a:latin typeface="Arial" panose="020B0604020202020204" pitchFamily="34" charset="0"/>
              </a:rPr>
              <a:t> </a:t>
            </a:r>
            <a:r>
              <a:rPr lang="en-US" b="1" dirty="0" err="1">
                <a:effectLst/>
                <a:latin typeface="Arial" panose="020B0604020202020204" pitchFamily="34" charset="0"/>
              </a:rPr>
              <a:t>mici</a:t>
            </a:r>
            <a:r>
              <a:rPr lang="en-US" b="0" i="0" dirty="0">
                <a:effectLst/>
                <a:latin typeface="Arial" panose="020B0604020202020204" pitchFamily="34" charset="0"/>
              </a:rPr>
              <a:t>, </a:t>
            </a:r>
            <a:r>
              <a:rPr lang="en-US" b="0" i="0" dirty="0" err="1">
                <a:effectLst/>
                <a:latin typeface="Arial" panose="020B0604020202020204" pitchFamily="34" charset="0"/>
              </a:rPr>
              <a:t>numite</a:t>
            </a:r>
            <a:r>
              <a:rPr lang="en-US" b="0" i="0" dirty="0">
                <a:effectLst/>
                <a:latin typeface="Arial" panose="020B0604020202020204" pitchFamily="34" charset="0"/>
              </a:rPr>
              <a:t> </a:t>
            </a:r>
            <a:r>
              <a:rPr lang="en-US" b="0" i="0" dirty="0" err="1">
                <a:effectLst/>
                <a:latin typeface="Arial" panose="020B0604020202020204" pitchFamily="34" charset="0"/>
              </a:rPr>
              <a:t>produși</a:t>
            </a:r>
            <a:r>
              <a:rPr lang="en-US" b="0" i="0" dirty="0">
                <a:effectLst/>
                <a:latin typeface="Arial" panose="020B0604020202020204" pitchFamily="34" charset="0"/>
              </a:rPr>
              <a:t> de </a:t>
            </a:r>
            <a:r>
              <a:rPr lang="en-US" b="0" i="0" dirty="0" err="1">
                <a:effectLst/>
                <a:latin typeface="Arial" panose="020B0604020202020204" pitchFamily="34" charset="0"/>
              </a:rPr>
              <a:t>fisiune</a:t>
            </a:r>
            <a:endParaRPr lang="en-US" dirty="0"/>
          </a:p>
        </p:txBody>
      </p:sp>
      <p:sp>
        <p:nvSpPr>
          <p:cNvPr id="4" name="TextBox 3">
            <a:extLst>
              <a:ext uri="{FF2B5EF4-FFF2-40B4-BE49-F238E27FC236}">
                <a16:creationId xmlns:a16="http://schemas.microsoft.com/office/drawing/2014/main" id="{DF6A5202-B64B-42B0-8DA1-6FCFF7BBBCFC}"/>
              </a:ext>
            </a:extLst>
          </p:cNvPr>
          <p:cNvSpPr txBox="1"/>
          <p:nvPr/>
        </p:nvSpPr>
        <p:spPr>
          <a:xfrm>
            <a:off x="5261316" y="2261116"/>
            <a:ext cx="454856" cy="369332"/>
          </a:xfrm>
          <a:prstGeom prst="rect">
            <a:avLst/>
          </a:prstGeom>
          <a:noFill/>
        </p:spPr>
        <p:txBody>
          <a:bodyPr wrap="square" rtlCol="0">
            <a:spAutoFit/>
          </a:bodyPr>
          <a:lstStyle/>
          <a:p>
            <a:r>
              <a:rPr lang="ro-RO" dirty="0"/>
              <a:t>III</a:t>
            </a:r>
            <a:endParaRPr lang="en-US" dirty="0"/>
          </a:p>
        </p:txBody>
      </p:sp>
      <p:sp>
        <p:nvSpPr>
          <p:cNvPr id="6" name="TextBox 5">
            <a:extLst>
              <a:ext uri="{FF2B5EF4-FFF2-40B4-BE49-F238E27FC236}">
                <a16:creationId xmlns:a16="http://schemas.microsoft.com/office/drawing/2014/main" id="{C276C4B9-92A0-4DC5-9557-4B6C80B9000A}"/>
              </a:ext>
            </a:extLst>
          </p:cNvPr>
          <p:cNvSpPr txBox="1"/>
          <p:nvPr/>
        </p:nvSpPr>
        <p:spPr>
          <a:xfrm>
            <a:off x="9005667" y="1901749"/>
            <a:ext cx="1066800" cy="369332"/>
          </a:xfrm>
          <a:prstGeom prst="rect">
            <a:avLst/>
          </a:prstGeom>
          <a:noFill/>
        </p:spPr>
        <p:txBody>
          <a:bodyPr wrap="square" rtlCol="0">
            <a:spAutoFit/>
          </a:bodyPr>
          <a:lstStyle/>
          <a:p>
            <a:r>
              <a:rPr lang="ro-RO" dirty="0"/>
              <a:t>235</a:t>
            </a:r>
            <a:endParaRPr lang="en-US" dirty="0"/>
          </a:p>
        </p:txBody>
      </p:sp>
      <p:sp>
        <p:nvSpPr>
          <p:cNvPr id="7" name="TextBox 6">
            <a:extLst>
              <a:ext uri="{FF2B5EF4-FFF2-40B4-BE49-F238E27FC236}">
                <a16:creationId xmlns:a16="http://schemas.microsoft.com/office/drawing/2014/main" id="{96598D3F-5A43-43F6-94AF-A97285A98462}"/>
              </a:ext>
            </a:extLst>
          </p:cNvPr>
          <p:cNvSpPr txBox="1"/>
          <p:nvPr/>
        </p:nvSpPr>
        <p:spPr>
          <a:xfrm>
            <a:off x="6584836" y="2261116"/>
            <a:ext cx="634897" cy="369332"/>
          </a:xfrm>
          <a:prstGeom prst="rect">
            <a:avLst/>
          </a:prstGeom>
          <a:noFill/>
        </p:spPr>
        <p:txBody>
          <a:bodyPr wrap="square" rtlCol="0">
            <a:spAutoFit/>
          </a:bodyPr>
          <a:lstStyle/>
          <a:p>
            <a:r>
              <a:rPr lang="ro-RO" dirty="0"/>
              <a:t>235</a:t>
            </a:r>
            <a:endParaRPr lang="en-US" dirty="0"/>
          </a:p>
        </p:txBody>
      </p:sp>
    </p:spTree>
    <p:extLst>
      <p:ext uri="{BB962C8B-B14F-4D97-AF65-F5344CB8AC3E}">
        <p14:creationId xmlns:p14="http://schemas.microsoft.com/office/powerpoint/2010/main" val="795892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3F721-B9D7-4D00-AA2B-7F04150A0619}"/>
              </a:ext>
            </a:extLst>
          </p:cNvPr>
          <p:cNvSpPr>
            <a:spLocks noGrp="1"/>
          </p:cNvSpPr>
          <p:nvPr>
            <p:ph type="title"/>
          </p:nvPr>
        </p:nvSpPr>
        <p:spPr/>
        <p:txBody>
          <a:bodyPr>
            <a:normAutofit fontScale="90000"/>
          </a:bodyPr>
          <a:lstStyle/>
          <a:p>
            <a:r>
              <a:rPr lang="ro-RO" dirty="0"/>
              <a:t>Ce rezultă în urma fisiunii nucleare a U-235?</a:t>
            </a:r>
            <a:endParaRPr lang="en-US" dirty="0"/>
          </a:p>
        </p:txBody>
      </p:sp>
      <p:sp>
        <p:nvSpPr>
          <p:cNvPr id="3" name="Content Placeholder 2">
            <a:extLst>
              <a:ext uri="{FF2B5EF4-FFF2-40B4-BE49-F238E27FC236}">
                <a16:creationId xmlns:a16="http://schemas.microsoft.com/office/drawing/2014/main" id="{E629594E-56AC-40D8-860D-9224805BFDF3}"/>
              </a:ext>
            </a:extLst>
          </p:cNvPr>
          <p:cNvSpPr>
            <a:spLocks noGrp="1"/>
          </p:cNvSpPr>
          <p:nvPr>
            <p:ph idx="1"/>
          </p:nvPr>
        </p:nvSpPr>
        <p:spPr/>
        <p:txBody>
          <a:bodyPr/>
          <a:lstStyle/>
          <a:p>
            <a:pPr marL="36900" indent="0">
              <a:buNone/>
            </a:pPr>
            <a:r>
              <a:rPr lang="ro-RO" dirty="0"/>
              <a:t>Pentru a vă ajuta să memorați mai ușor , am făcut această schemă:</a:t>
            </a:r>
          </a:p>
          <a:p>
            <a:pPr marL="36900" indent="0">
              <a:buNone/>
            </a:pPr>
            <a:endParaRPr lang="ro-RO" dirty="0"/>
          </a:p>
          <a:p>
            <a:pPr marL="36900" indent="0">
              <a:buNone/>
            </a:pPr>
            <a:endParaRPr lang="ro-RO" dirty="0"/>
          </a:p>
          <a:p>
            <a:pPr marL="36900" indent="0">
              <a:buNone/>
            </a:pPr>
            <a:r>
              <a:rPr lang="ro-RO" dirty="0"/>
              <a:t>       U</a:t>
            </a:r>
          </a:p>
        </p:txBody>
      </p:sp>
      <p:sp>
        <p:nvSpPr>
          <p:cNvPr id="5" name="TextBox 4">
            <a:extLst>
              <a:ext uri="{FF2B5EF4-FFF2-40B4-BE49-F238E27FC236}">
                <a16:creationId xmlns:a16="http://schemas.microsoft.com/office/drawing/2014/main" id="{27B768C8-831A-4C08-8763-1BEE2EBE5976}"/>
              </a:ext>
            </a:extLst>
          </p:cNvPr>
          <p:cNvSpPr txBox="1"/>
          <p:nvPr/>
        </p:nvSpPr>
        <p:spPr>
          <a:xfrm>
            <a:off x="1181081" y="3513351"/>
            <a:ext cx="858129" cy="369332"/>
          </a:xfrm>
          <a:prstGeom prst="rect">
            <a:avLst/>
          </a:prstGeom>
          <a:noFill/>
        </p:spPr>
        <p:txBody>
          <a:bodyPr wrap="square" rtlCol="0">
            <a:spAutoFit/>
          </a:bodyPr>
          <a:lstStyle/>
          <a:p>
            <a:r>
              <a:rPr lang="ro-RO" dirty="0"/>
              <a:t>235</a:t>
            </a:r>
            <a:endParaRPr lang="en-US" dirty="0"/>
          </a:p>
        </p:txBody>
      </p:sp>
      <p:cxnSp>
        <p:nvCxnSpPr>
          <p:cNvPr id="7" name="Straight Connector 6">
            <a:extLst>
              <a:ext uri="{FF2B5EF4-FFF2-40B4-BE49-F238E27FC236}">
                <a16:creationId xmlns:a16="http://schemas.microsoft.com/office/drawing/2014/main" id="{4257ACCC-1694-4D14-B401-3B4DC3910AA4}"/>
              </a:ext>
            </a:extLst>
          </p:cNvPr>
          <p:cNvCxnSpPr/>
          <p:nvPr/>
        </p:nvCxnSpPr>
        <p:spPr>
          <a:xfrm>
            <a:off x="1927274" y="3882683"/>
            <a:ext cx="18569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9F73FDE-044F-4EEF-AB47-BF8DC9884D7D}"/>
              </a:ext>
            </a:extLst>
          </p:cNvPr>
          <p:cNvCxnSpPr/>
          <p:nvPr/>
        </p:nvCxnSpPr>
        <p:spPr>
          <a:xfrm flipV="1">
            <a:off x="3784209" y="3024554"/>
            <a:ext cx="1111348" cy="8581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1B6CBC6-6EEC-4E61-BD0A-030184CA4398}"/>
              </a:ext>
            </a:extLst>
          </p:cNvPr>
          <p:cNvCxnSpPr/>
          <p:nvPr/>
        </p:nvCxnSpPr>
        <p:spPr>
          <a:xfrm>
            <a:off x="3784209" y="3882683"/>
            <a:ext cx="1167619" cy="956603"/>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E7BE3EE-1011-46F6-B828-7C751608F48A}"/>
              </a:ext>
            </a:extLst>
          </p:cNvPr>
          <p:cNvSpPr txBox="1"/>
          <p:nvPr/>
        </p:nvSpPr>
        <p:spPr>
          <a:xfrm>
            <a:off x="4895557" y="2715065"/>
            <a:ext cx="984738" cy="523220"/>
          </a:xfrm>
          <a:prstGeom prst="rect">
            <a:avLst/>
          </a:prstGeom>
          <a:noFill/>
        </p:spPr>
        <p:txBody>
          <a:bodyPr wrap="square" rtlCol="0">
            <a:spAutoFit/>
          </a:bodyPr>
          <a:lstStyle/>
          <a:p>
            <a:r>
              <a:rPr lang="ro-RO" sz="2800" dirty="0"/>
              <a:t>Ba</a:t>
            </a:r>
            <a:endParaRPr lang="en-US" sz="2800" dirty="0"/>
          </a:p>
        </p:txBody>
      </p:sp>
      <p:sp>
        <p:nvSpPr>
          <p:cNvPr id="13" name="TextBox 12">
            <a:extLst>
              <a:ext uri="{FF2B5EF4-FFF2-40B4-BE49-F238E27FC236}">
                <a16:creationId xmlns:a16="http://schemas.microsoft.com/office/drawing/2014/main" id="{6BD73B68-CEE5-4C7D-B353-F2C5179B2472}"/>
              </a:ext>
            </a:extLst>
          </p:cNvPr>
          <p:cNvSpPr txBox="1"/>
          <p:nvPr/>
        </p:nvSpPr>
        <p:spPr>
          <a:xfrm>
            <a:off x="4712677" y="2540363"/>
            <a:ext cx="675249" cy="369332"/>
          </a:xfrm>
          <a:prstGeom prst="rect">
            <a:avLst/>
          </a:prstGeom>
          <a:noFill/>
        </p:spPr>
        <p:txBody>
          <a:bodyPr wrap="square" rtlCol="0">
            <a:spAutoFit/>
          </a:bodyPr>
          <a:lstStyle/>
          <a:p>
            <a:r>
              <a:rPr lang="ro-RO" dirty="0"/>
              <a:t>141</a:t>
            </a:r>
            <a:endParaRPr lang="en-US" dirty="0"/>
          </a:p>
        </p:txBody>
      </p:sp>
      <p:sp>
        <p:nvSpPr>
          <p:cNvPr id="14" name="TextBox 13">
            <a:extLst>
              <a:ext uri="{FF2B5EF4-FFF2-40B4-BE49-F238E27FC236}">
                <a16:creationId xmlns:a16="http://schemas.microsoft.com/office/drawing/2014/main" id="{DE2EBAD4-B602-465A-8FC6-BBDEA819EFB2}"/>
              </a:ext>
            </a:extLst>
          </p:cNvPr>
          <p:cNvSpPr txBox="1"/>
          <p:nvPr/>
        </p:nvSpPr>
        <p:spPr>
          <a:xfrm>
            <a:off x="4952433" y="4679504"/>
            <a:ext cx="1702191" cy="523220"/>
          </a:xfrm>
          <a:prstGeom prst="rect">
            <a:avLst/>
          </a:prstGeom>
          <a:noFill/>
        </p:spPr>
        <p:txBody>
          <a:bodyPr wrap="square" rtlCol="0">
            <a:spAutoFit/>
          </a:bodyPr>
          <a:lstStyle/>
          <a:p>
            <a:r>
              <a:rPr lang="ro-RO" sz="2800" dirty="0"/>
              <a:t>Kr</a:t>
            </a:r>
            <a:endParaRPr lang="en-US" sz="2800" dirty="0"/>
          </a:p>
        </p:txBody>
      </p:sp>
      <p:sp>
        <p:nvSpPr>
          <p:cNvPr id="15" name="TextBox 14">
            <a:extLst>
              <a:ext uri="{FF2B5EF4-FFF2-40B4-BE49-F238E27FC236}">
                <a16:creationId xmlns:a16="http://schemas.microsoft.com/office/drawing/2014/main" id="{B87FA2EB-2D38-472F-A2FA-490FE32D3DBA}"/>
              </a:ext>
            </a:extLst>
          </p:cNvPr>
          <p:cNvSpPr txBox="1"/>
          <p:nvPr/>
        </p:nvSpPr>
        <p:spPr>
          <a:xfrm>
            <a:off x="4810516" y="4469955"/>
            <a:ext cx="1280160" cy="369332"/>
          </a:xfrm>
          <a:prstGeom prst="rect">
            <a:avLst/>
          </a:prstGeom>
          <a:noFill/>
        </p:spPr>
        <p:txBody>
          <a:bodyPr wrap="square" rtlCol="0">
            <a:spAutoFit/>
          </a:bodyPr>
          <a:lstStyle/>
          <a:p>
            <a:r>
              <a:rPr lang="ro-RO" dirty="0"/>
              <a:t>92</a:t>
            </a:r>
            <a:endParaRPr lang="en-US" dirty="0"/>
          </a:p>
        </p:txBody>
      </p:sp>
      <p:sp>
        <p:nvSpPr>
          <p:cNvPr id="16" name="Cloud 15">
            <a:extLst>
              <a:ext uri="{FF2B5EF4-FFF2-40B4-BE49-F238E27FC236}">
                <a16:creationId xmlns:a16="http://schemas.microsoft.com/office/drawing/2014/main" id="{1B84DCDF-C9B0-44BE-B70F-FD7A4E8A621A}"/>
              </a:ext>
            </a:extLst>
          </p:cNvPr>
          <p:cNvSpPr/>
          <p:nvPr/>
        </p:nvSpPr>
        <p:spPr>
          <a:xfrm>
            <a:off x="3474720" y="3513351"/>
            <a:ext cx="717452" cy="692887"/>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2658B294-A4BB-4D59-9D6D-F55F9B304CF4}"/>
              </a:ext>
            </a:extLst>
          </p:cNvPr>
          <p:cNvCxnSpPr/>
          <p:nvPr/>
        </p:nvCxnSpPr>
        <p:spPr>
          <a:xfrm>
            <a:off x="5500468" y="3024554"/>
            <a:ext cx="1434904"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B63F84A-FE74-403E-846E-74AC05365B96}"/>
              </a:ext>
            </a:extLst>
          </p:cNvPr>
          <p:cNvSpPr txBox="1"/>
          <p:nvPr/>
        </p:nvSpPr>
        <p:spPr>
          <a:xfrm>
            <a:off x="7033846" y="2715065"/>
            <a:ext cx="1533379" cy="646331"/>
          </a:xfrm>
          <a:prstGeom prst="rect">
            <a:avLst/>
          </a:prstGeom>
          <a:noFill/>
        </p:spPr>
        <p:txBody>
          <a:bodyPr wrap="square" rtlCol="0">
            <a:spAutoFit/>
          </a:bodyPr>
          <a:lstStyle/>
          <a:p>
            <a:r>
              <a:rPr lang="ro-RO" dirty="0"/>
              <a:t>Isotope al băutului</a:t>
            </a:r>
            <a:endParaRPr lang="en-US" dirty="0"/>
          </a:p>
        </p:txBody>
      </p:sp>
      <p:cxnSp>
        <p:nvCxnSpPr>
          <p:cNvPr id="21" name="Straight Connector 20">
            <a:extLst>
              <a:ext uri="{FF2B5EF4-FFF2-40B4-BE49-F238E27FC236}">
                <a16:creationId xmlns:a16="http://schemas.microsoft.com/office/drawing/2014/main" id="{5D28059E-0B72-48EF-A212-C5E14031D3C7}"/>
              </a:ext>
            </a:extLst>
          </p:cNvPr>
          <p:cNvCxnSpPr/>
          <p:nvPr/>
        </p:nvCxnSpPr>
        <p:spPr>
          <a:xfrm>
            <a:off x="5500468" y="4991101"/>
            <a:ext cx="1434904"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675704B-C515-4727-8612-FDD0C2FDA42A}"/>
              </a:ext>
            </a:extLst>
          </p:cNvPr>
          <p:cNvSpPr txBox="1"/>
          <p:nvPr/>
        </p:nvSpPr>
        <p:spPr>
          <a:xfrm>
            <a:off x="7033846" y="4839286"/>
            <a:ext cx="1069145" cy="369332"/>
          </a:xfrm>
          <a:prstGeom prst="rect">
            <a:avLst/>
          </a:prstGeom>
          <a:noFill/>
        </p:spPr>
        <p:txBody>
          <a:bodyPr wrap="square" rtlCol="0">
            <a:spAutoFit/>
          </a:bodyPr>
          <a:lstStyle/>
          <a:p>
            <a:r>
              <a:rPr lang="ro-RO" dirty="0"/>
              <a:t>Kripton</a:t>
            </a:r>
          </a:p>
        </p:txBody>
      </p:sp>
      <p:sp>
        <p:nvSpPr>
          <p:cNvPr id="23" name="TextBox 22">
            <a:extLst>
              <a:ext uri="{FF2B5EF4-FFF2-40B4-BE49-F238E27FC236}">
                <a16:creationId xmlns:a16="http://schemas.microsoft.com/office/drawing/2014/main" id="{332EE815-B14C-4C18-B16F-BACB34BE0B9E}"/>
              </a:ext>
            </a:extLst>
          </p:cNvPr>
          <p:cNvSpPr txBox="1"/>
          <p:nvPr/>
        </p:nvSpPr>
        <p:spPr>
          <a:xfrm>
            <a:off x="6063175" y="2619906"/>
            <a:ext cx="633046" cy="369332"/>
          </a:xfrm>
          <a:prstGeom prst="rect">
            <a:avLst/>
          </a:prstGeom>
          <a:noFill/>
        </p:spPr>
        <p:txBody>
          <a:bodyPr wrap="square" rtlCol="0">
            <a:spAutoFit/>
          </a:bodyPr>
          <a:lstStyle/>
          <a:p>
            <a:r>
              <a:rPr lang="ro-RO" dirty="0"/>
              <a:t>=</a:t>
            </a:r>
            <a:endParaRPr lang="en-US" dirty="0"/>
          </a:p>
        </p:txBody>
      </p:sp>
      <p:sp>
        <p:nvSpPr>
          <p:cNvPr id="24" name="TextBox 23">
            <a:extLst>
              <a:ext uri="{FF2B5EF4-FFF2-40B4-BE49-F238E27FC236}">
                <a16:creationId xmlns:a16="http://schemas.microsoft.com/office/drawing/2014/main" id="{8B208DC6-ADCE-4A5F-ABD2-BF324204F128}"/>
              </a:ext>
            </a:extLst>
          </p:cNvPr>
          <p:cNvSpPr txBox="1"/>
          <p:nvPr/>
        </p:nvSpPr>
        <p:spPr>
          <a:xfrm>
            <a:off x="6063175" y="4644187"/>
            <a:ext cx="801859" cy="369332"/>
          </a:xfrm>
          <a:prstGeom prst="rect">
            <a:avLst/>
          </a:prstGeom>
          <a:noFill/>
        </p:spPr>
        <p:txBody>
          <a:bodyPr wrap="square" rtlCol="0">
            <a:spAutoFit/>
          </a:bodyPr>
          <a:lstStyle/>
          <a:p>
            <a:r>
              <a:rPr lang="ro-RO" dirty="0"/>
              <a:t>=</a:t>
            </a:r>
            <a:endParaRPr lang="en-US" dirty="0"/>
          </a:p>
        </p:txBody>
      </p:sp>
    </p:spTree>
    <p:extLst>
      <p:ext uri="{BB962C8B-B14F-4D97-AF65-F5344CB8AC3E}">
        <p14:creationId xmlns:p14="http://schemas.microsoft.com/office/powerpoint/2010/main" val="3391674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98C09-2154-4B60-9DD9-9266638DC0B7}"/>
              </a:ext>
            </a:extLst>
          </p:cNvPr>
          <p:cNvSpPr>
            <a:spLocks noGrp="1"/>
          </p:cNvSpPr>
          <p:nvPr>
            <p:ph type="title"/>
          </p:nvPr>
        </p:nvSpPr>
        <p:spPr/>
        <p:txBody>
          <a:bodyPr/>
          <a:lstStyle/>
          <a:p>
            <a:r>
              <a:rPr lang="ro-RO" dirty="0"/>
              <a:t>Concluzie:</a:t>
            </a:r>
            <a:endParaRPr lang="en-US" dirty="0"/>
          </a:p>
        </p:txBody>
      </p:sp>
      <p:sp>
        <p:nvSpPr>
          <p:cNvPr id="3" name="Content Placeholder 2">
            <a:extLst>
              <a:ext uri="{FF2B5EF4-FFF2-40B4-BE49-F238E27FC236}">
                <a16:creationId xmlns:a16="http://schemas.microsoft.com/office/drawing/2014/main" id="{B97D02CF-3A80-407D-B2FF-992074471E04}"/>
              </a:ext>
            </a:extLst>
          </p:cNvPr>
          <p:cNvSpPr>
            <a:spLocks noGrp="1"/>
          </p:cNvSpPr>
          <p:nvPr>
            <p:ph idx="1"/>
          </p:nvPr>
        </p:nvSpPr>
        <p:spPr/>
        <p:txBody>
          <a:bodyPr/>
          <a:lstStyle/>
          <a:p>
            <a:r>
              <a:rPr lang="ro-RO" dirty="0"/>
              <a:t>Aceștia au fost cei trei izotopi naturali ai uraniului. În concluzie, putem observa cu ușurință importanța izotopilor în viața de zi cu zi.De la utilizarea în scopurile științei până la utilizarea pentru fabricarea armelor nucleare și ai energiei nucleare, izotopii uraniului s-au arătat a fii de mare folos pentru noi, însă aceștia au fost strict izotopii naturali ai uraniului, imaginați-vă câți alți izotopi importanți mai sunt pe lume  , descoperiți și nedescoperiți , și de asemenea, imaginați-vă viața fără ei. Eu spun că ar fii mult mai grea...</a:t>
            </a:r>
            <a:endParaRPr lang="en-US" dirty="0"/>
          </a:p>
        </p:txBody>
      </p:sp>
    </p:spTree>
    <p:extLst>
      <p:ext uri="{BB962C8B-B14F-4D97-AF65-F5344CB8AC3E}">
        <p14:creationId xmlns:p14="http://schemas.microsoft.com/office/powerpoint/2010/main" val="726961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3.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4.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64B270AB-C138-415C-897E-3C24487DECF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{591C423E-CAD6-4B3B-89DD-5CEA969C8BD5}TFe742eee6-54b3-45e8-a03d-f3d997f9b6caf6c338c2_win32-3734725ae7e2</Template>
  <TotalTime>148</TotalTime>
  <Words>512</Words>
  <Application>Microsoft Office PowerPoint</Application>
  <PresentationFormat>Ecran lat</PresentationFormat>
  <Paragraphs>61</Paragraphs>
  <Slides>10</Slides>
  <Notes>3</Notes>
  <HiddenSlides>0</HiddenSlides>
  <MMClips>0</MMClips>
  <ScaleCrop>false</ScaleCrop>
  <HeadingPairs>
    <vt:vector size="6" baseType="variant">
      <vt:variant>
        <vt:lpstr>Fonturi utilizate</vt:lpstr>
      </vt:variant>
      <vt:variant>
        <vt:i4>4</vt:i4>
      </vt:variant>
      <vt:variant>
        <vt:lpstr>Temă</vt:lpstr>
      </vt:variant>
      <vt:variant>
        <vt:i4>1</vt:i4>
      </vt:variant>
      <vt:variant>
        <vt:lpstr>Titluri diapozitive</vt:lpstr>
      </vt:variant>
      <vt:variant>
        <vt:i4>10</vt:i4>
      </vt:variant>
    </vt:vector>
  </HeadingPairs>
  <TitlesOfParts>
    <vt:vector size="15" baseType="lpstr">
      <vt:lpstr>Arial</vt:lpstr>
      <vt:lpstr>Calibri</vt:lpstr>
      <vt:lpstr>Goudy Old Style</vt:lpstr>
      <vt:lpstr>Wingdings 2</vt:lpstr>
      <vt:lpstr>SlateVTI</vt:lpstr>
      <vt:lpstr>Izotopii naturali ai uraniului </vt:lpstr>
      <vt:lpstr>Ce este un izotop? </vt:lpstr>
      <vt:lpstr>Ce este uraniul? </vt:lpstr>
      <vt:lpstr>Câți izotopi are uraniul?  </vt:lpstr>
      <vt:lpstr>Cei trei mușchetari  (izotopi în acest caz)</vt:lpstr>
      <vt:lpstr>Uraniu I</vt:lpstr>
      <vt:lpstr>Uraniu II</vt:lpstr>
      <vt:lpstr>Actinouraniu (AcU)</vt:lpstr>
      <vt:lpstr>Ce rezultă în urma fisiunii nucleare a U-235?</vt:lpstr>
      <vt:lpstr>Concluzie: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Izotopii uraniului (naturali)</dc:title>
  <dc:creator>Camelia Angheluta</dc:creator>
  <cp:lastModifiedBy>Magdalena Covaci</cp:lastModifiedBy>
  <cp:revision>15</cp:revision>
  <dcterms:created xsi:type="dcterms:W3CDTF">2026-02-16T17:12:00Z</dcterms:created>
  <dcterms:modified xsi:type="dcterms:W3CDTF">2026-03-12T11:45:42Z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